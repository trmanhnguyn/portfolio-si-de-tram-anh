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bin Bold" charset="1" panose="00000800000000000000"/>
      <p:regular r:id="rId21"/>
    </p:embeddedFont>
    <p:embeddedFont>
      <p:font typeface="Cabin" charset="1" panose="00000500000000000000"/>
      <p:regular r:id="rId22"/>
    </p:embeddedFont>
    <p:embeddedFont>
      <p:font typeface="Be Vietnam Ultra-Bold" charset="1" panose="00000900000000000000"/>
      <p:regular r:id="rId23"/>
    </p:embeddedFont>
    <p:embeddedFont>
      <p:font typeface="Be Vietnam" charset="1" panose="00000500000000000000"/>
      <p:regular r:id="rId24"/>
    </p:embeddedFont>
    <p:embeddedFont>
      <p:font typeface="Cooper Hewitt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16" Target="../media/image66.png" Type="http://schemas.openxmlformats.org/officeDocument/2006/relationships/image"/><Relationship Id="rId17" Target="../media/image67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68900" y="8385579"/>
            <a:ext cx="7517938" cy="1354458"/>
            <a:chOff x="0" y="0"/>
            <a:chExt cx="1980033" cy="356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0033" cy="356730"/>
            </a:xfrm>
            <a:custGeom>
              <a:avLst/>
              <a:gdLst/>
              <a:ahLst/>
              <a:cxnLst/>
              <a:rect r="r" b="b" t="t" l="l"/>
              <a:pathLst>
                <a:path h="356730" w="1980033">
                  <a:moveTo>
                    <a:pt x="0" y="0"/>
                  </a:moveTo>
                  <a:lnTo>
                    <a:pt x="1980033" y="0"/>
                  </a:lnTo>
                  <a:lnTo>
                    <a:pt x="1980033" y="356730"/>
                  </a:lnTo>
                  <a:lnTo>
                    <a:pt x="0" y="356730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80033" cy="375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6370" y="7073909"/>
            <a:ext cx="1083710" cy="1083070"/>
            <a:chOff x="0" y="0"/>
            <a:chExt cx="285422" cy="285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422" cy="285253"/>
            </a:xfrm>
            <a:custGeom>
              <a:avLst/>
              <a:gdLst/>
              <a:ahLst/>
              <a:cxnLst/>
              <a:rect r="r" b="b" t="t" l="l"/>
              <a:pathLst>
                <a:path h="285253" w="285422">
                  <a:moveTo>
                    <a:pt x="0" y="0"/>
                  </a:moveTo>
                  <a:lnTo>
                    <a:pt x="285422" y="0"/>
                  </a:lnTo>
                  <a:lnTo>
                    <a:pt x="285422" y="285253"/>
                  </a:lnTo>
                  <a:lnTo>
                    <a:pt x="0" y="28525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85422" cy="30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780521" y="1826888"/>
            <a:ext cx="1070713" cy="1083070"/>
            <a:chOff x="0" y="0"/>
            <a:chExt cx="281999" cy="285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999" cy="285253"/>
            </a:xfrm>
            <a:custGeom>
              <a:avLst/>
              <a:gdLst/>
              <a:ahLst/>
              <a:cxnLst/>
              <a:rect r="r" b="b" t="t" l="l"/>
              <a:pathLst>
                <a:path h="285253" w="281999">
                  <a:moveTo>
                    <a:pt x="0" y="0"/>
                  </a:moveTo>
                  <a:lnTo>
                    <a:pt x="281999" y="0"/>
                  </a:lnTo>
                  <a:lnTo>
                    <a:pt x="281999" y="285253"/>
                  </a:lnTo>
                  <a:lnTo>
                    <a:pt x="0" y="28525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81999" cy="30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3055" y="2867256"/>
            <a:ext cx="15259288" cy="4235229"/>
            <a:chOff x="0" y="0"/>
            <a:chExt cx="4018907" cy="1115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18907" cy="1115451"/>
            </a:xfrm>
            <a:custGeom>
              <a:avLst/>
              <a:gdLst/>
              <a:ahLst/>
              <a:cxnLst/>
              <a:rect r="r" b="b" t="t" l="l"/>
              <a:pathLst>
                <a:path h="1115451" w="4018907">
                  <a:moveTo>
                    <a:pt x="0" y="0"/>
                  </a:moveTo>
                  <a:lnTo>
                    <a:pt x="4018907" y="0"/>
                  </a:lnTo>
                  <a:lnTo>
                    <a:pt x="4018907" y="1115451"/>
                  </a:lnTo>
                  <a:lnTo>
                    <a:pt x="0" y="1115451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018907" cy="113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0674" y="1826888"/>
            <a:ext cx="1083710" cy="1083070"/>
            <a:chOff x="0" y="0"/>
            <a:chExt cx="285422" cy="2852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422" cy="285253"/>
            </a:xfrm>
            <a:custGeom>
              <a:avLst/>
              <a:gdLst/>
              <a:ahLst/>
              <a:cxnLst/>
              <a:rect r="r" b="b" t="t" l="l"/>
              <a:pathLst>
                <a:path h="285253" w="285422">
                  <a:moveTo>
                    <a:pt x="0" y="0"/>
                  </a:moveTo>
                  <a:lnTo>
                    <a:pt x="285422" y="0"/>
                  </a:lnTo>
                  <a:lnTo>
                    <a:pt x="285422" y="285253"/>
                  </a:lnTo>
                  <a:lnTo>
                    <a:pt x="0" y="28525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85422" cy="30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780521" y="7073909"/>
            <a:ext cx="1070713" cy="1083070"/>
            <a:chOff x="0" y="0"/>
            <a:chExt cx="281999" cy="2852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999" cy="285253"/>
            </a:xfrm>
            <a:custGeom>
              <a:avLst/>
              <a:gdLst/>
              <a:ahLst/>
              <a:cxnLst/>
              <a:rect r="r" b="b" t="t" l="l"/>
              <a:pathLst>
                <a:path h="285253" w="281999">
                  <a:moveTo>
                    <a:pt x="0" y="0"/>
                  </a:moveTo>
                  <a:lnTo>
                    <a:pt x="281999" y="0"/>
                  </a:lnTo>
                  <a:lnTo>
                    <a:pt x="281999" y="285253"/>
                  </a:lnTo>
                  <a:lnTo>
                    <a:pt x="0" y="28525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81999" cy="30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15441" y="2031335"/>
            <a:ext cx="674175" cy="674175"/>
          </a:xfrm>
          <a:custGeom>
            <a:avLst/>
            <a:gdLst/>
            <a:ahLst/>
            <a:cxnLst/>
            <a:rect r="r" b="b" t="t" l="l"/>
            <a:pathLst>
              <a:path h="674175" w="674175">
                <a:moveTo>
                  <a:pt x="0" y="0"/>
                </a:moveTo>
                <a:lnTo>
                  <a:pt x="674175" y="0"/>
                </a:lnTo>
                <a:lnTo>
                  <a:pt x="674175" y="674176"/>
                </a:lnTo>
                <a:lnTo>
                  <a:pt x="0" y="674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944917" y="7334863"/>
            <a:ext cx="741921" cy="561162"/>
          </a:xfrm>
          <a:custGeom>
            <a:avLst/>
            <a:gdLst/>
            <a:ahLst/>
            <a:cxnLst/>
            <a:rect r="r" b="b" t="t" l="l"/>
            <a:pathLst>
              <a:path h="561162" w="741921">
                <a:moveTo>
                  <a:pt x="0" y="0"/>
                </a:moveTo>
                <a:lnTo>
                  <a:pt x="741921" y="0"/>
                </a:lnTo>
                <a:lnTo>
                  <a:pt x="741921" y="561162"/>
                </a:lnTo>
                <a:lnTo>
                  <a:pt x="0" y="561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978789" y="2132072"/>
            <a:ext cx="674175" cy="531986"/>
          </a:xfrm>
          <a:custGeom>
            <a:avLst/>
            <a:gdLst/>
            <a:ahLst/>
            <a:cxnLst/>
            <a:rect r="r" b="b" t="t" l="l"/>
            <a:pathLst>
              <a:path h="531986" w="674175">
                <a:moveTo>
                  <a:pt x="0" y="0"/>
                </a:moveTo>
                <a:lnTo>
                  <a:pt x="674176" y="0"/>
                </a:lnTo>
                <a:lnTo>
                  <a:pt x="674176" y="531985"/>
                </a:lnTo>
                <a:lnTo>
                  <a:pt x="0" y="531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22701" y="7308361"/>
            <a:ext cx="811998" cy="614166"/>
          </a:xfrm>
          <a:custGeom>
            <a:avLst/>
            <a:gdLst/>
            <a:ahLst/>
            <a:cxnLst/>
            <a:rect r="r" b="b" t="t" l="l"/>
            <a:pathLst>
              <a:path h="614166" w="811998">
                <a:moveTo>
                  <a:pt x="0" y="0"/>
                </a:moveTo>
                <a:lnTo>
                  <a:pt x="811998" y="0"/>
                </a:lnTo>
                <a:lnTo>
                  <a:pt x="811998" y="614166"/>
                </a:lnTo>
                <a:lnTo>
                  <a:pt x="0" y="614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277546" y="3356095"/>
            <a:ext cx="1381030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39"/>
              </a:lnSpc>
            </a:pPr>
            <a:r>
              <a:rPr lang="en-US" sz="106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GESTION DES VENTES DE CHAUSSURES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-157547" y="8196480"/>
            <a:ext cx="8238501" cy="2090520"/>
          </a:xfrm>
          <a:custGeom>
            <a:avLst/>
            <a:gdLst/>
            <a:ahLst/>
            <a:cxnLst/>
            <a:rect r="r" b="b" t="t" l="l"/>
            <a:pathLst>
              <a:path h="2090520" w="8238501">
                <a:moveTo>
                  <a:pt x="0" y="0"/>
                </a:moveTo>
                <a:lnTo>
                  <a:pt x="8238501" y="0"/>
                </a:lnTo>
                <a:lnTo>
                  <a:pt x="8238501" y="2090520"/>
                </a:lnTo>
                <a:lnTo>
                  <a:pt x="0" y="20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168900" y="8493619"/>
            <a:ext cx="7682334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4"/>
              </a:lnSpc>
            </a:pPr>
            <a:r>
              <a:rPr lang="en-US" b="true" sz="34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Ngoc Tram Anh NGUYEN - 42006320</a:t>
            </a:r>
          </a:p>
          <a:p>
            <a:pPr algn="ctr" marL="0" indent="0" lvl="0">
              <a:lnSpc>
                <a:spcPts val="4374"/>
              </a:lnSpc>
            </a:pPr>
            <a:r>
              <a:rPr lang="en-US" b="true" sz="34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Khanh Huyen VU - 42019836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3592" y="754696"/>
            <a:ext cx="14110435" cy="3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INTRODUCTION AUX SYSTÈMES D'INFORMATION - LICENCE 3 MIAGE - 2025/2026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20373" y="5015865"/>
            <a:ext cx="4076264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</a:p>
        </p:txBody>
      </p:sp>
      <p:grpSp>
        <p:nvGrpSpPr>
          <p:cNvPr name="Group 45" id="45"/>
          <p:cNvGrpSpPr/>
          <p:nvPr/>
        </p:nvGrpSpPr>
        <p:grpSpPr>
          <a:xfrm rot="0">
            <a:off x="5200139" y="7134749"/>
            <a:ext cx="8119979" cy="480695"/>
            <a:chOff x="0" y="0"/>
            <a:chExt cx="2138595" cy="1266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38595" cy="126603"/>
            </a:xfrm>
            <a:custGeom>
              <a:avLst/>
              <a:gdLst/>
              <a:ahLst/>
              <a:cxnLst/>
              <a:rect r="r" b="b" t="t" l="l"/>
              <a:pathLst>
                <a:path h="126603" w="2138595">
                  <a:moveTo>
                    <a:pt x="0" y="0"/>
                  </a:moveTo>
                  <a:lnTo>
                    <a:pt x="2138595" y="0"/>
                  </a:lnTo>
                  <a:lnTo>
                    <a:pt x="2138595" y="126603"/>
                  </a:lnTo>
                  <a:lnTo>
                    <a:pt x="0" y="12660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138595" cy="145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053977" y="7037366"/>
            <a:ext cx="84123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CB565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Enseignant encadrant : M. CHERGUI Anis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88657" y="2867256"/>
            <a:ext cx="4738542" cy="3189372"/>
            <a:chOff x="0" y="0"/>
            <a:chExt cx="1248011" cy="839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8011" cy="839999"/>
            </a:xfrm>
            <a:custGeom>
              <a:avLst/>
              <a:gdLst/>
              <a:ahLst/>
              <a:cxnLst/>
              <a:rect r="r" b="b" t="t" l="l"/>
              <a:pathLst>
                <a:path h="839999" w="1248011">
                  <a:moveTo>
                    <a:pt x="0" y="0"/>
                  </a:moveTo>
                  <a:lnTo>
                    <a:pt x="1248011" y="0"/>
                  </a:lnTo>
                  <a:lnTo>
                    <a:pt x="1248011" y="839999"/>
                  </a:lnTo>
                  <a:lnTo>
                    <a:pt x="0" y="839999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48011" cy="85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867256"/>
            <a:ext cx="1079007" cy="3189372"/>
            <a:chOff x="0" y="0"/>
            <a:chExt cx="284183" cy="839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183" cy="839999"/>
            </a:xfrm>
            <a:custGeom>
              <a:avLst/>
              <a:gdLst/>
              <a:ahLst/>
              <a:cxnLst/>
              <a:rect r="r" b="b" t="t" l="l"/>
              <a:pathLst>
                <a:path h="839999" w="284183">
                  <a:moveTo>
                    <a:pt x="0" y="0"/>
                  </a:moveTo>
                  <a:lnTo>
                    <a:pt x="284183" y="0"/>
                  </a:lnTo>
                  <a:lnTo>
                    <a:pt x="284183" y="839999"/>
                  </a:lnTo>
                  <a:lnTo>
                    <a:pt x="0" y="839999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84183" cy="85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48002" y="2867256"/>
            <a:ext cx="9485732" cy="6333155"/>
            <a:chOff x="0" y="0"/>
            <a:chExt cx="2498300" cy="1667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98300" cy="1667991"/>
            </a:xfrm>
            <a:custGeom>
              <a:avLst/>
              <a:gdLst/>
              <a:ahLst/>
              <a:cxnLst/>
              <a:rect r="r" b="b" t="t" l="l"/>
              <a:pathLst>
                <a:path h="1667991" w="2498300">
                  <a:moveTo>
                    <a:pt x="0" y="0"/>
                  </a:moveTo>
                  <a:lnTo>
                    <a:pt x="2498300" y="0"/>
                  </a:lnTo>
                  <a:lnTo>
                    <a:pt x="2498300" y="1667991"/>
                  </a:lnTo>
                  <a:lnTo>
                    <a:pt x="0" y="1667991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98300" cy="1687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41958" y="3566591"/>
            <a:ext cx="3989721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58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Context et Objectif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4106" y="3240825"/>
            <a:ext cx="8633524" cy="529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804" indent="-426402" lvl="1">
              <a:lnSpc>
                <a:spcPts val="7109"/>
              </a:lnSpc>
              <a:buFont typeface="Arial"/>
              <a:buChar char="•"/>
            </a:pPr>
            <a:r>
              <a:rPr lang="en-US" sz="394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Context: projet réalisé dans le cadre du cours de Programmation Web et Introduction à PHP.</a:t>
            </a:r>
          </a:p>
          <a:p>
            <a:pPr algn="l">
              <a:lnSpc>
                <a:spcPts val="7109"/>
              </a:lnSpc>
            </a:pPr>
          </a:p>
          <a:p>
            <a:pPr algn="l" marL="852804" indent="-426402" lvl="1">
              <a:lnSpc>
                <a:spcPts val="7109"/>
              </a:lnSpc>
              <a:buFont typeface="Arial"/>
              <a:buChar char="•"/>
            </a:pPr>
            <a:r>
              <a:rPr lang="en-US" sz="394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Objectif : créer une application web pour gérer les ventes de chaussures.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33592" y="809301"/>
            <a:ext cx="14373689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31116" y="4124854"/>
            <a:ext cx="674175" cy="674175"/>
          </a:xfrm>
          <a:custGeom>
            <a:avLst/>
            <a:gdLst/>
            <a:ahLst/>
            <a:cxnLst/>
            <a:rect r="r" b="b" t="t" l="l"/>
            <a:pathLst>
              <a:path h="674175" w="674175">
                <a:moveTo>
                  <a:pt x="0" y="0"/>
                </a:moveTo>
                <a:lnTo>
                  <a:pt x="674175" y="0"/>
                </a:lnTo>
                <a:lnTo>
                  <a:pt x="674175" y="674175"/>
                </a:lnTo>
                <a:lnTo>
                  <a:pt x="0" y="674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32463" y="6345489"/>
            <a:ext cx="2728188" cy="3481447"/>
          </a:xfrm>
          <a:custGeom>
            <a:avLst/>
            <a:gdLst/>
            <a:ahLst/>
            <a:cxnLst/>
            <a:rect r="r" b="b" t="t" l="l"/>
            <a:pathLst>
              <a:path h="3481447" w="2728188">
                <a:moveTo>
                  <a:pt x="0" y="0"/>
                </a:moveTo>
                <a:lnTo>
                  <a:pt x="2728188" y="0"/>
                </a:lnTo>
                <a:lnTo>
                  <a:pt x="2728188" y="3481447"/>
                </a:lnTo>
                <a:lnTo>
                  <a:pt x="0" y="3481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33592" y="8523112"/>
            <a:ext cx="2740503" cy="1763888"/>
          </a:xfrm>
          <a:custGeom>
            <a:avLst/>
            <a:gdLst/>
            <a:ahLst/>
            <a:cxnLst/>
            <a:rect r="r" b="b" t="t" l="l"/>
            <a:pathLst>
              <a:path h="1763888" w="2740503">
                <a:moveTo>
                  <a:pt x="0" y="0"/>
                </a:moveTo>
                <a:lnTo>
                  <a:pt x="2740504" y="0"/>
                </a:lnTo>
                <a:lnTo>
                  <a:pt x="2740504" y="1763888"/>
                </a:lnTo>
                <a:lnTo>
                  <a:pt x="0" y="1763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460575" y="7261599"/>
            <a:ext cx="2124268" cy="2906336"/>
          </a:xfrm>
          <a:custGeom>
            <a:avLst/>
            <a:gdLst/>
            <a:ahLst/>
            <a:cxnLst/>
            <a:rect r="r" b="b" t="t" l="l"/>
            <a:pathLst>
              <a:path h="2906336" w="2124268">
                <a:moveTo>
                  <a:pt x="0" y="0"/>
                </a:moveTo>
                <a:lnTo>
                  <a:pt x="2124268" y="0"/>
                </a:lnTo>
                <a:lnTo>
                  <a:pt x="2124268" y="2906336"/>
                </a:lnTo>
                <a:lnTo>
                  <a:pt x="0" y="29063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32463" y="1826888"/>
            <a:ext cx="15377751" cy="1790700"/>
            <a:chOff x="0" y="0"/>
            <a:chExt cx="4050107" cy="471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50107" cy="471625"/>
            </a:xfrm>
            <a:custGeom>
              <a:avLst/>
              <a:gdLst/>
              <a:ahLst/>
              <a:cxnLst/>
              <a:rect r="r" b="b" t="t" l="l"/>
              <a:pathLst>
                <a:path h="471625" w="4050107">
                  <a:moveTo>
                    <a:pt x="0" y="0"/>
                  </a:moveTo>
                  <a:lnTo>
                    <a:pt x="4050107" y="0"/>
                  </a:lnTo>
                  <a:lnTo>
                    <a:pt x="4050107" y="471625"/>
                  </a:lnTo>
                  <a:lnTo>
                    <a:pt x="0" y="471625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050107" cy="4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826888"/>
            <a:ext cx="1079007" cy="1790700"/>
            <a:chOff x="0" y="0"/>
            <a:chExt cx="284183" cy="4716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183" cy="471625"/>
            </a:xfrm>
            <a:custGeom>
              <a:avLst/>
              <a:gdLst/>
              <a:ahLst/>
              <a:cxnLst/>
              <a:rect r="r" b="b" t="t" l="l"/>
              <a:pathLst>
                <a:path h="471625" w="284183">
                  <a:moveTo>
                    <a:pt x="0" y="0"/>
                  </a:moveTo>
                  <a:lnTo>
                    <a:pt x="284183" y="0"/>
                  </a:lnTo>
                  <a:lnTo>
                    <a:pt x="284183" y="471625"/>
                  </a:lnTo>
                  <a:lnTo>
                    <a:pt x="0" y="471625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84183" cy="4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752162"/>
            <a:ext cx="16640288" cy="6333155"/>
            <a:chOff x="0" y="0"/>
            <a:chExt cx="4382627" cy="1667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2627" cy="1667991"/>
            </a:xfrm>
            <a:custGeom>
              <a:avLst/>
              <a:gdLst/>
              <a:ahLst/>
              <a:cxnLst/>
              <a:rect r="r" b="b" t="t" l="l"/>
              <a:pathLst>
                <a:path h="1667991" w="4382627">
                  <a:moveTo>
                    <a:pt x="0" y="0"/>
                  </a:moveTo>
                  <a:lnTo>
                    <a:pt x="4382627" y="0"/>
                  </a:lnTo>
                  <a:lnTo>
                    <a:pt x="4382627" y="1667991"/>
                  </a:lnTo>
                  <a:lnTo>
                    <a:pt x="0" y="1667991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382627" cy="1687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32463" y="1826888"/>
            <a:ext cx="15758971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58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Rôle du SI dans la gestion des ventes de chaussures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33592" y="809301"/>
            <a:ext cx="14373689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31116" y="1967292"/>
            <a:ext cx="674175" cy="674175"/>
          </a:xfrm>
          <a:custGeom>
            <a:avLst/>
            <a:gdLst/>
            <a:ahLst/>
            <a:cxnLst/>
            <a:rect r="r" b="b" t="t" l="l"/>
            <a:pathLst>
              <a:path h="674175" w="674175">
                <a:moveTo>
                  <a:pt x="0" y="0"/>
                </a:moveTo>
                <a:lnTo>
                  <a:pt x="674175" y="0"/>
                </a:lnTo>
                <a:lnTo>
                  <a:pt x="674175" y="674176"/>
                </a:lnTo>
                <a:lnTo>
                  <a:pt x="0" y="674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17428" y="4074788"/>
            <a:ext cx="15455704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Centralisation des données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Produits, clients, commandes et stocks regroupés dans un système unique et fiable.</a:t>
            </a:r>
          </a:p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Gestion optimisée des stocks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Suivi en temps réel, alertes de rupture, planification des réapprovisionnements.</a:t>
            </a:r>
          </a:p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Automatisation des processus de vente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Commandes, factures, bons de livraison générés automatiquement.</a:t>
            </a:r>
          </a:p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Amélioration de la relation client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Historique d’achats, gestion des retours, meilleure réactivité.</a:t>
            </a:r>
          </a:p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Aide à la décision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Statistiques de vente, analyse des performances, tendances produits.</a:t>
            </a:r>
          </a:p>
          <a:p>
            <a:pPr algn="just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Sécurité et traçabilité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Contrôle d’accès, données protégées, suivi des actions dans le système.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1898" y="1826888"/>
            <a:ext cx="7924204" cy="895350"/>
            <a:chOff x="0" y="0"/>
            <a:chExt cx="2087033" cy="2358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7033" cy="235812"/>
            </a:xfrm>
            <a:custGeom>
              <a:avLst/>
              <a:gdLst/>
              <a:ahLst/>
              <a:cxnLst/>
              <a:rect r="r" b="b" t="t" l="l"/>
              <a:pathLst>
                <a:path h="235812" w="2087033">
                  <a:moveTo>
                    <a:pt x="0" y="0"/>
                  </a:moveTo>
                  <a:lnTo>
                    <a:pt x="2087033" y="0"/>
                  </a:lnTo>
                  <a:lnTo>
                    <a:pt x="2087033" y="235812"/>
                  </a:lnTo>
                  <a:lnTo>
                    <a:pt x="0" y="23581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87033" cy="25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3082009"/>
            <a:ext cx="2123440" cy="2286342"/>
          </a:xfrm>
          <a:custGeom>
            <a:avLst/>
            <a:gdLst/>
            <a:ahLst/>
            <a:cxnLst/>
            <a:rect r="r" b="b" t="t" l="l"/>
            <a:pathLst>
              <a:path h="2286342" w="2123440">
                <a:moveTo>
                  <a:pt x="0" y="0"/>
                </a:moveTo>
                <a:lnTo>
                  <a:pt x="2123440" y="0"/>
                </a:lnTo>
                <a:lnTo>
                  <a:pt x="2123440" y="2286341"/>
                </a:lnTo>
                <a:lnTo>
                  <a:pt x="0" y="2286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339560" y="3198259"/>
            <a:ext cx="2383293" cy="2082402"/>
          </a:xfrm>
          <a:custGeom>
            <a:avLst/>
            <a:gdLst/>
            <a:ahLst/>
            <a:cxnLst/>
            <a:rect r="r" b="b" t="t" l="l"/>
            <a:pathLst>
              <a:path h="2082402" w="2383293">
                <a:moveTo>
                  <a:pt x="0" y="0"/>
                </a:moveTo>
                <a:lnTo>
                  <a:pt x="2383293" y="0"/>
                </a:lnTo>
                <a:lnTo>
                  <a:pt x="2383293" y="2082402"/>
                </a:lnTo>
                <a:lnTo>
                  <a:pt x="0" y="208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910273" y="3082009"/>
            <a:ext cx="2378172" cy="2378172"/>
          </a:xfrm>
          <a:custGeom>
            <a:avLst/>
            <a:gdLst/>
            <a:ahLst/>
            <a:cxnLst/>
            <a:rect r="r" b="b" t="t" l="l"/>
            <a:pathLst>
              <a:path h="2378172" w="2378172">
                <a:moveTo>
                  <a:pt x="0" y="0"/>
                </a:moveTo>
                <a:lnTo>
                  <a:pt x="2378172" y="0"/>
                </a:lnTo>
                <a:lnTo>
                  <a:pt x="2378172" y="2378172"/>
                </a:lnTo>
                <a:lnTo>
                  <a:pt x="0" y="237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69545" y="3082009"/>
            <a:ext cx="2381487" cy="2381487"/>
          </a:xfrm>
          <a:custGeom>
            <a:avLst/>
            <a:gdLst/>
            <a:ahLst/>
            <a:cxnLst/>
            <a:rect r="r" b="b" t="t" l="l"/>
            <a:pathLst>
              <a:path h="2381487" w="2381487">
                <a:moveTo>
                  <a:pt x="0" y="0"/>
                </a:moveTo>
                <a:lnTo>
                  <a:pt x="2381487" y="0"/>
                </a:lnTo>
                <a:lnTo>
                  <a:pt x="2381487" y="2381486"/>
                </a:lnTo>
                <a:lnTo>
                  <a:pt x="0" y="23814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32132" y="2899174"/>
            <a:ext cx="2433220" cy="2652011"/>
          </a:xfrm>
          <a:custGeom>
            <a:avLst/>
            <a:gdLst/>
            <a:ahLst/>
            <a:cxnLst/>
            <a:rect r="r" b="b" t="t" l="l"/>
            <a:pathLst>
              <a:path h="2652011" w="2433220">
                <a:moveTo>
                  <a:pt x="0" y="0"/>
                </a:moveTo>
                <a:lnTo>
                  <a:pt x="2433220" y="0"/>
                </a:lnTo>
                <a:lnTo>
                  <a:pt x="2433220" y="2652011"/>
                </a:lnTo>
                <a:lnTo>
                  <a:pt x="0" y="26520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181898" y="5934020"/>
            <a:ext cx="7924204" cy="895350"/>
            <a:chOff x="0" y="0"/>
            <a:chExt cx="2087033" cy="2358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7033" cy="235812"/>
            </a:xfrm>
            <a:custGeom>
              <a:avLst/>
              <a:gdLst/>
              <a:ahLst/>
              <a:cxnLst/>
              <a:rect r="r" b="b" t="t" l="l"/>
              <a:pathLst>
                <a:path h="235812" w="2087033">
                  <a:moveTo>
                    <a:pt x="0" y="0"/>
                  </a:moveTo>
                  <a:lnTo>
                    <a:pt x="2087033" y="0"/>
                  </a:lnTo>
                  <a:lnTo>
                    <a:pt x="2087033" y="235812"/>
                  </a:lnTo>
                  <a:lnTo>
                    <a:pt x="0" y="23581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087033" cy="25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991" y="7679251"/>
            <a:ext cx="4694297" cy="895350"/>
            <a:chOff x="0" y="0"/>
            <a:chExt cx="1236358" cy="2358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36358" cy="235812"/>
            </a:xfrm>
            <a:custGeom>
              <a:avLst/>
              <a:gdLst/>
              <a:ahLst/>
              <a:cxnLst/>
              <a:rect r="r" b="b" t="t" l="l"/>
              <a:pathLst>
                <a:path h="235812" w="1236358">
                  <a:moveTo>
                    <a:pt x="0" y="0"/>
                  </a:moveTo>
                  <a:lnTo>
                    <a:pt x="1236358" y="0"/>
                  </a:lnTo>
                  <a:lnTo>
                    <a:pt x="1236358" y="235812"/>
                  </a:lnTo>
                  <a:lnTo>
                    <a:pt x="0" y="23581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36358" cy="25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96852" y="9026274"/>
            <a:ext cx="4694297" cy="895350"/>
            <a:chOff x="0" y="0"/>
            <a:chExt cx="1236358" cy="2358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36358" cy="235812"/>
            </a:xfrm>
            <a:custGeom>
              <a:avLst/>
              <a:gdLst/>
              <a:ahLst/>
              <a:cxnLst/>
              <a:rect r="r" b="b" t="t" l="l"/>
              <a:pathLst>
                <a:path h="235812" w="1236358">
                  <a:moveTo>
                    <a:pt x="0" y="0"/>
                  </a:moveTo>
                  <a:lnTo>
                    <a:pt x="1236358" y="0"/>
                  </a:lnTo>
                  <a:lnTo>
                    <a:pt x="1236358" y="235812"/>
                  </a:lnTo>
                  <a:lnTo>
                    <a:pt x="0" y="23581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236358" cy="25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31691" y="7679251"/>
            <a:ext cx="4694297" cy="895350"/>
            <a:chOff x="0" y="0"/>
            <a:chExt cx="1236358" cy="2358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36358" cy="235812"/>
            </a:xfrm>
            <a:custGeom>
              <a:avLst/>
              <a:gdLst/>
              <a:ahLst/>
              <a:cxnLst/>
              <a:rect r="r" b="b" t="t" l="l"/>
              <a:pathLst>
                <a:path h="235812" w="1236358">
                  <a:moveTo>
                    <a:pt x="0" y="0"/>
                  </a:moveTo>
                  <a:lnTo>
                    <a:pt x="1236358" y="0"/>
                  </a:lnTo>
                  <a:lnTo>
                    <a:pt x="1236358" y="235812"/>
                  </a:lnTo>
                  <a:lnTo>
                    <a:pt x="0" y="23581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36358" cy="25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1243980">
            <a:off x="4233221" y="6650970"/>
            <a:ext cx="679199" cy="938445"/>
          </a:xfrm>
          <a:custGeom>
            <a:avLst/>
            <a:gdLst/>
            <a:ahLst/>
            <a:cxnLst/>
            <a:rect r="r" b="b" t="t" l="l"/>
            <a:pathLst>
              <a:path h="938445" w="679199">
                <a:moveTo>
                  <a:pt x="0" y="0"/>
                </a:moveTo>
                <a:lnTo>
                  <a:pt x="679199" y="0"/>
                </a:lnTo>
                <a:lnTo>
                  <a:pt x="679199" y="938445"/>
                </a:lnTo>
                <a:lnTo>
                  <a:pt x="0" y="938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true" flipV="false" rot="-801556">
            <a:off x="13324448" y="6722662"/>
            <a:ext cx="646988" cy="893939"/>
          </a:xfrm>
          <a:custGeom>
            <a:avLst/>
            <a:gdLst/>
            <a:ahLst/>
            <a:cxnLst/>
            <a:rect r="r" b="b" t="t" l="l"/>
            <a:pathLst>
              <a:path h="893939" w="646988">
                <a:moveTo>
                  <a:pt x="646989" y="0"/>
                </a:moveTo>
                <a:lnTo>
                  <a:pt x="0" y="0"/>
                </a:lnTo>
                <a:lnTo>
                  <a:pt x="0" y="893939"/>
                </a:lnTo>
                <a:lnTo>
                  <a:pt x="646989" y="893939"/>
                </a:lnTo>
                <a:lnTo>
                  <a:pt x="64698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1790275">
            <a:off x="8819921" y="7011915"/>
            <a:ext cx="1089372" cy="1696622"/>
          </a:xfrm>
          <a:custGeom>
            <a:avLst/>
            <a:gdLst/>
            <a:ahLst/>
            <a:cxnLst/>
            <a:rect r="r" b="b" t="t" l="l"/>
            <a:pathLst>
              <a:path h="1696622" w="1089372">
                <a:moveTo>
                  <a:pt x="0" y="0"/>
                </a:moveTo>
                <a:lnTo>
                  <a:pt x="1089373" y="0"/>
                </a:lnTo>
                <a:lnTo>
                  <a:pt x="1089373" y="1696622"/>
                </a:lnTo>
                <a:lnTo>
                  <a:pt x="0" y="16966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556309" y="1826888"/>
            <a:ext cx="717538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58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Technologies utilisées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3684" y="809301"/>
            <a:ext cx="14198925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6418697" y="5899786"/>
            <a:ext cx="53613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58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I</a:t>
            </a:r>
            <a:r>
              <a:rPr lang="en-US" b="true" sz="58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ntérêt du projet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90420" y="7850701"/>
            <a:ext cx="199868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CONCRET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44659" y="9197724"/>
            <a:ext cx="214378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PRATIQUE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91130" y="7850701"/>
            <a:ext cx="271897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FORMATEUR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036925" y="7304521"/>
            <a:ext cx="14178581" cy="2831166"/>
            <a:chOff x="0" y="0"/>
            <a:chExt cx="3734276" cy="7456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34276" cy="745657"/>
            </a:xfrm>
            <a:custGeom>
              <a:avLst/>
              <a:gdLst/>
              <a:ahLst/>
              <a:cxnLst/>
              <a:rect r="r" b="b" t="t" l="l"/>
              <a:pathLst>
                <a:path h="745657" w="3734276">
                  <a:moveTo>
                    <a:pt x="0" y="0"/>
                  </a:moveTo>
                  <a:lnTo>
                    <a:pt x="3734276" y="0"/>
                  </a:lnTo>
                  <a:lnTo>
                    <a:pt x="3734276" y="745657"/>
                  </a:lnTo>
                  <a:lnTo>
                    <a:pt x="0" y="745657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34276" cy="764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79884" y="2644243"/>
            <a:ext cx="1338407" cy="1338407"/>
          </a:xfrm>
          <a:custGeom>
            <a:avLst/>
            <a:gdLst/>
            <a:ahLst/>
            <a:cxnLst/>
            <a:rect r="r" b="b" t="t" l="l"/>
            <a:pathLst>
              <a:path h="1338407" w="1338407">
                <a:moveTo>
                  <a:pt x="0" y="0"/>
                </a:moveTo>
                <a:lnTo>
                  <a:pt x="1338408" y="0"/>
                </a:lnTo>
                <a:lnTo>
                  <a:pt x="1338408" y="1338407"/>
                </a:lnTo>
                <a:lnTo>
                  <a:pt x="0" y="1338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96697" y="2359017"/>
            <a:ext cx="3300231" cy="2632062"/>
            <a:chOff x="0" y="0"/>
            <a:chExt cx="869197" cy="6932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97" cy="693218"/>
            </a:xfrm>
            <a:custGeom>
              <a:avLst/>
              <a:gdLst/>
              <a:ahLst/>
              <a:cxnLst/>
              <a:rect r="r" b="b" t="t" l="l"/>
              <a:pathLst>
                <a:path h="693218" w="869197">
                  <a:moveTo>
                    <a:pt x="117294" y="0"/>
                  </a:moveTo>
                  <a:lnTo>
                    <a:pt x="751903" y="0"/>
                  </a:lnTo>
                  <a:cubicBezTo>
                    <a:pt x="783011" y="0"/>
                    <a:pt x="812845" y="12358"/>
                    <a:pt x="834842" y="34354"/>
                  </a:cubicBezTo>
                  <a:cubicBezTo>
                    <a:pt x="856839" y="56351"/>
                    <a:pt x="869197" y="86185"/>
                    <a:pt x="869197" y="117294"/>
                  </a:cubicBezTo>
                  <a:lnTo>
                    <a:pt x="869197" y="575924"/>
                  </a:lnTo>
                  <a:cubicBezTo>
                    <a:pt x="869197" y="607033"/>
                    <a:pt x="856839" y="636867"/>
                    <a:pt x="834842" y="658863"/>
                  </a:cubicBezTo>
                  <a:cubicBezTo>
                    <a:pt x="812845" y="680860"/>
                    <a:pt x="783011" y="693218"/>
                    <a:pt x="751903" y="693218"/>
                  </a:cubicBezTo>
                  <a:lnTo>
                    <a:pt x="117294" y="693218"/>
                  </a:lnTo>
                  <a:cubicBezTo>
                    <a:pt x="86185" y="693218"/>
                    <a:pt x="56351" y="680860"/>
                    <a:pt x="34354" y="658863"/>
                  </a:cubicBezTo>
                  <a:cubicBezTo>
                    <a:pt x="12358" y="636867"/>
                    <a:pt x="0" y="607033"/>
                    <a:pt x="0" y="575924"/>
                  </a:cubicBezTo>
                  <a:lnTo>
                    <a:pt x="0" y="117294"/>
                  </a:lnTo>
                  <a:cubicBezTo>
                    <a:pt x="0" y="86185"/>
                    <a:pt x="12358" y="56351"/>
                    <a:pt x="34354" y="34354"/>
                  </a:cubicBezTo>
                  <a:cubicBezTo>
                    <a:pt x="56351" y="12358"/>
                    <a:pt x="86185" y="0"/>
                    <a:pt x="117294" y="0"/>
                  </a:cubicBezTo>
                  <a:close/>
                </a:path>
              </a:pathLst>
            </a:custGeom>
            <a:solidFill>
              <a:srgbClr val="FFF5EC"/>
            </a:solidFill>
            <a:ln w="28575" cap="rnd">
              <a:solidFill>
                <a:srgbClr val="DF9DA2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69197" cy="712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98004" y="2917307"/>
            <a:ext cx="3831175" cy="1355202"/>
            <a:chOff x="0" y="0"/>
            <a:chExt cx="1009034" cy="3569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034" cy="356926"/>
            </a:xfrm>
            <a:custGeom>
              <a:avLst/>
              <a:gdLst/>
              <a:ahLst/>
              <a:cxnLst/>
              <a:rect r="r" b="b" t="t" l="l"/>
              <a:pathLst>
                <a:path h="356926" w="1009034">
                  <a:moveTo>
                    <a:pt x="101038" y="0"/>
                  </a:moveTo>
                  <a:lnTo>
                    <a:pt x="907995" y="0"/>
                  </a:lnTo>
                  <a:cubicBezTo>
                    <a:pt x="934792" y="0"/>
                    <a:pt x="960492" y="10645"/>
                    <a:pt x="979440" y="29593"/>
                  </a:cubicBezTo>
                  <a:cubicBezTo>
                    <a:pt x="998389" y="48542"/>
                    <a:pt x="1009034" y="74241"/>
                    <a:pt x="1009034" y="101038"/>
                  </a:cubicBezTo>
                  <a:lnTo>
                    <a:pt x="1009034" y="255887"/>
                  </a:lnTo>
                  <a:cubicBezTo>
                    <a:pt x="1009034" y="282684"/>
                    <a:pt x="998389" y="308384"/>
                    <a:pt x="979440" y="327332"/>
                  </a:cubicBezTo>
                  <a:cubicBezTo>
                    <a:pt x="960492" y="346281"/>
                    <a:pt x="934792" y="356926"/>
                    <a:pt x="907995" y="356926"/>
                  </a:cubicBezTo>
                  <a:lnTo>
                    <a:pt x="101038" y="356926"/>
                  </a:lnTo>
                  <a:cubicBezTo>
                    <a:pt x="45236" y="356926"/>
                    <a:pt x="0" y="311689"/>
                    <a:pt x="0" y="255887"/>
                  </a:cubicBezTo>
                  <a:lnTo>
                    <a:pt x="0" y="101038"/>
                  </a:lnTo>
                  <a:cubicBezTo>
                    <a:pt x="0" y="74241"/>
                    <a:pt x="10645" y="48542"/>
                    <a:pt x="29593" y="29593"/>
                  </a:cubicBezTo>
                  <a:cubicBezTo>
                    <a:pt x="48542" y="10645"/>
                    <a:pt x="74241" y="0"/>
                    <a:pt x="101038" y="0"/>
                  </a:cubicBezTo>
                  <a:close/>
                </a:path>
              </a:pathLst>
            </a:custGeom>
            <a:solidFill>
              <a:srgbClr val="FFF5EC"/>
            </a:solidFill>
            <a:ln w="28575" cap="rnd">
              <a:solidFill>
                <a:srgbClr val="DF9DA2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09034" cy="375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917467" y="3472245"/>
            <a:ext cx="3380055" cy="405607"/>
          </a:xfrm>
          <a:custGeom>
            <a:avLst/>
            <a:gdLst/>
            <a:ahLst/>
            <a:cxnLst/>
            <a:rect r="r" b="b" t="t" l="l"/>
            <a:pathLst>
              <a:path h="405607" w="3380055">
                <a:moveTo>
                  <a:pt x="0" y="0"/>
                </a:moveTo>
                <a:lnTo>
                  <a:pt x="3380055" y="0"/>
                </a:lnTo>
                <a:lnTo>
                  <a:pt x="3380055" y="405606"/>
                </a:lnTo>
                <a:lnTo>
                  <a:pt x="0" y="405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889579" y="4039375"/>
            <a:ext cx="1919017" cy="951704"/>
            <a:chOff x="0" y="0"/>
            <a:chExt cx="505420" cy="2506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5420" cy="250655"/>
            </a:xfrm>
            <a:custGeom>
              <a:avLst/>
              <a:gdLst/>
              <a:ahLst/>
              <a:cxnLst/>
              <a:rect r="r" b="b" t="t" l="l"/>
              <a:pathLst>
                <a:path h="250655" w="505420">
                  <a:moveTo>
                    <a:pt x="125327" y="0"/>
                  </a:moveTo>
                  <a:lnTo>
                    <a:pt x="380093" y="0"/>
                  </a:lnTo>
                  <a:cubicBezTo>
                    <a:pt x="449309" y="0"/>
                    <a:pt x="505420" y="56111"/>
                    <a:pt x="505420" y="125327"/>
                  </a:cubicBezTo>
                  <a:lnTo>
                    <a:pt x="505420" y="125327"/>
                  </a:lnTo>
                  <a:cubicBezTo>
                    <a:pt x="505420" y="158566"/>
                    <a:pt x="492216" y="190444"/>
                    <a:pt x="468713" y="213947"/>
                  </a:cubicBezTo>
                  <a:cubicBezTo>
                    <a:pt x="445209" y="237450"/>
                    <a:pt x="413332" y="250655"/>
                    <a:pt x="380093" y="250655"/>
                  </a:cubicBezTo>
                  <a:lnTo>
                    <a:pt x="125327" y="250655"/>
                  </a:lnTo>
                  <a:cubicBezTo>
                    <a:pt x="56111" y="250655"/>
                    <a:pt x="0" y="194544"/>
                    <a:pt x="0" y="125327"/>
                  </a:cubicBezTo>
                  <a:lnTo>
                    <a:pt x="0" y="125327"/>
                  </a:lnTo>
                  <a:cubicBezTo>
                    <a:pt x="0" y="56111"/>
                    <a:pt x="56111" y="0"/>
                    <a:pt x="125327" y="0"/>
                  </a:cubicBezTo>
                  <a:close/>
                </a:path>
              </a:pathLst>
            </a:custGeom>
            <a:solidFill>
              <a:srgbClr val="FFF5EC"/>
            </a:solidFill>
            <a:ln w="28575" cap="rnd">
              <a:solidFill>
                <a:srgbClr val="DF9DA2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05420" cy="269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307438" y="3383237"/>
            <a:ext cx="3380055" cy="405607"/>
          </a:xfrm>
          <a:custGeom>
            <a:avLst/>
            <a:gdLst/>
            <a:ahLst/>
            <a:cxnLst/>
            <a:rect r="r" b="b" t="t" l="l"/>
            <a:pathLst>
              <a:path h="405607" w="3380055">
                <a:moveTo>
                  <a:pt x="0" y="0"/>
                </a:moveTo>
                <a:lnTo>
                  <a:pt x="3380055" y="0"/>
                </a:lnTo>
                <a:lnTo>
                  <a:pt x="3380055" y="405607"/>
                </a:lnTo>
                <a:lnTo>
                  <a:pt x="0" y="405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true" flipV="false" rot="0">
            <a:off x="10307438" y="3808742"/>
            <a:ext cx="3380055" cy="405607"/>
          </a:xfrm>
          <a:custGeom>
            <a:avLst/>
            <a:gdLst/>
            <a:ahLst/>
            <a:cxnLst/>
            <a:rect r="r" b="b" t="t" l="l"/>
            <a:pathLst>
              <a:path h="405607" w="3380055">
                <a:moveTo>
                  <a:pt x="3380055" y="0"/>
                </a:moveTo>
                <a:lnTo>
                  <a:pt x="0" y="0"/>
                </a:lnTo>
                <a:lnTo>
                  <a:pt x="0" y="405607"/>
                </a:lnTo>
                <a:lnTo>
                  <a:pt x="3380055" y="405607"/>
                </a:lnTo>
                <a:lnTo>
                  <a:pt x="33800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5" id="35"/>
          <p:cNvGrpSpPr/>
          <p:nvPr/>
        </p:nvGrpSpPr>
        <p:grpSpPr>
          <a:xfrm rot="0">
            <a:off x="6772897" y="5784936"/>
            <a:ext cx="3147831" cy="707391"/>
            <a:chOff x="0" y="0"/>
            <a:chExt cx="829058" cy="1863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9059" cy="186309"/>
            </a:xfrm>
            <a:custGeom>
              <a:avLst/>
              <a:gdLst/>
              <a:ahLst/>
              <a:cxnLst/>
              <a:rect r="r" b="b" t="t" l="l"/>
              <a:pathLst>
                <a:path h="186309" w="829059">
                  <a:moveTo>
                    <a:pt x="93154" y="0"/>
                  </a:moveTo>
                  <a:lnTo>
                    <a:pt x="735904" y="0"/>
                  </a:lnTo>
                  <a:cubicBezTo>
                    <a:pt x="787352" y="0"/>
                    <a:pt x="829059" y="41707"/>
                    <a:pt x="829059" y="93154"/>
                  </a:cubicBezTo>
                  <a:lnTo>
                    <a:pt x="829059" y="93154"/>
                  </a:lnTo>
                  <a:cubicBezTo>
                    <a:pt x="829059" y="144602"/>
                    <a:pt x="787352" y="186309"/>
                    <a:pt x="735904" y="186309"/>
                  </a:cubicBezTo>
                  <a:lnTo>
                    <a:pt x="93154" y="186309"/>
                  </a:lnTo>
                  <a:cubicBezTo>
                    <a:pt x="41707" y="186309"/>
                    <a:pt x="0" y="144602"/>
                    <a:pt x="0" y="93154"/>
                  </a:cubicBezTo>
                  <a:lnTo>
                    <a:pt x="0" y="93154"/>
                  </a:lnTo>
                  <a:cubicBezTo>
                    <a:pt x="0" y="41707"/>
                    <a:pt x="41707" y="0"/>
                    <a:pt x="93154" y="0"/>
                  </a:cubicBezTo>
                  <a:close/>
                </a:path>
              </a:pathLst>
            </a:custGeom>
            <a:solidFill>
              <a:srgbClr val="FFF5EC"/>
            </a:solidFill>
            <a:ln w="28575" cap="rnd">
              <a:solidFill>
                <a:srgbClr val="DF9DA2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29058" cy="205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5400000">
            <a:off x="7984908" y="5285189"/>
            <a:ext cx="723808" cy="205637"/>
          </a:xfrm>
          <a:custGeom>
            <a:avLst/>
            <a:gdLst/>
            <a:ahLst/>
            <a:cxnLst/>
            <a:rect r="r" b="b" t="t" l="l"/>
            <a:pathLst>
              <a:path h="205637" w="723808">
                <a:moveTo>
                  <a:pt x="0" y="0"/>
                </a:moveTo>
                <a:lnTo>
                  <a:pt x="723808" y="0"/>
                </a:lnTo>
                <a:lnTo>
                  <a:pt x="723808" y="205637"/>
                </a:lnTo>
                <a:lnTo>
                  <a:pt x="0" y="205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77838" y="809301"/>
            <a:ext cx="12827321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just" marL="0" indent="0" lvl="0">
              <a:lnSpc>
                <a:spcPts val="274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934556" y="7639050"/>
            <a:ext cx="14022079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6" indent="-291468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Ce sc</a:t>
            </a: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héma illustre le fonctionnement du système client–serveur de notre application. </a:t>
            </a: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L’utilisateur envoie une requête via le navigateur (client).</a:t>
            </a:r>
          </a:p>
          <a:p>
            <a:pPr algn="just" marL="582936" indent="-291468" lvl="1">
              <a:lnSpc>
                <a:spcPts val="4023"/>
              </a:lnSpc>
              <a:buFont typeface="Arial"/>
              <a:buChar char="•"/>
            </a:pP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 Le serveur web en PHP traite cette requête, interagit avec la base de données MySQL pour récupérer ou modifier les données,</a:t>
            </a: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puis renvoie une page HTML affichée dans le navigateur.</a:t>
            </a:r>
          </a:p>
          <a:p>
            <a:pPr algn="just" marL="582936" indent="-291468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 Ce modèle garantit une communication claire et rapide entre l’utilisateur et le système.</a:t>
            </a: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387513" y="4004816"/>
            <a:ext cx="2923149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Client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BC1823"/>
                </a:solidFill>
                <a:latin typeface="Be Vietnam"/>
                <a:ea typeface="Be Vietnam"/>
                <a:cs typeface="Be Vietnam"/>
                <a:sym typeface="Be Vietnam"/>
              </a:rPr>
              <a:t>Utilisateur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54287" y="3028176"/>
            <a:ext cx="2985050" cy="122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6"/>
              </a:lnSpc>
            </a:pPr>
            <a:r>
              <a:rPr lang="en-US" b="true" sz="3569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Serveur Web</a:t>
            </a:r>
          </a:p>
          <a:p>
            <a:pPr algn="ctr">
              <a:lnSpc>
                <a:spcPts val="4996"/>
              </a:lnSpc>
            </a:pPr>
            <a:r>
              <a:rPr lang="en-US" b="true" sz="3569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PHP + Apache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089033" y="2944910"/>
            <a:ext cx="3649117" cy="123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6"/>
              </a:lnSpc>
            </a:pPr>
            <a:r>
              <a:rPr lang="en-US" sz="3569" b="true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Base de Données</a:t>
            </a:r>
          </a:p>
          <a:p>
            <a:pPr algn="ctr">
              <a:lnSpc>
                <a:spcPts val="4996"/>
              </a:lnSpc>
            </a:pPr>
            <a:r>
              <a:rPr lang="en-US" sz="3569">
                <a:solidFill>
                  <a:srgbClr val="BC1823"/>
                </a:solidFill>
                <a:latin typeface="Be Vietnam"/>
                <a:ea typeface="Be Vietnam"/>
                <a:cs typeface="Be Vietnam"/>
                <a:sym typeface="Be Vietnam"/>
              </a:rPr>
              <a:t>MySQL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74134" y="5895427"/>
            <a:ext cx="354535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Page </a:t>
            </a:r>
            <a:r>
              <a:rPr lang="en-US" sz="2599">
                <a:solidFill>
                  <a:srgbClr val="BC1823"/>
                </a:solidFill>
                <a:latin typeface="Be Vietnam"/>
                <a:ea typeface="Be Vietnam"/>
                <a:cs typeface="Be Vietnam"/>
                <a:sym typeface="Be Vietnam"/>
              </a:rPr>
              <a:t>HTML affiche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74731" y="3156122"/>
            <a:ext cx="292314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Requête HTTP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54128" y="2960542"/>
            <a:ext cx="292314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Requête SQL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35891" y="3935025"/>
            <a:ext cx="292314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BC182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Résultat SQL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81565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5178" y="4564834"/>
            <a:ext cx="5554528" cy="3520081"/>
            <a:chOff x="0" y="0"/>
            <a:chExt cx="1462921" cy="927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2921" cy="927100"/>
            </a:xfrm>
            <a:custGeom>
              <a:avLst/>
              <a:gdLst/>
              <a:ahLst/>
              <a:cxnLst/>
              <a:rect r="r" b="b" t="t" l="l"/>
              <a:pathLst>
                <a:path h="927100" w="1462921">
                  <a:moveTo>
                    <a:pt x="0" y="0"/>
                  </a:moveTo>
                  <a:lnTo>
                    <a:pt x="1462921" y="0"/>
                  </a:lnTo>
                  <a:lnTo>
                    <a:pt x="1462921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62921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61242" y="2258462"/>
            <a:ext cx="1338407" cy="1338407"/>
          </a:xfrm>
          <a:custGeom>
            <a:avLst/>
            <a:gdLst/>
            <a:ahLst/>
            <a:cxnLst/>
            <a:rect r="r" b="b" t="t" l="l"/>
            <a:pathLst>
              <a:path h="1338407" w="1338407">
                <a:moveTo>
                  <a:pt x="0" y="0"/>
                </a:moveTo>
                <a:lnTo>
                  <a:pt x="1338408" y="0"/>
                </a:lnTo>
                <a:lnTo>
                  <a:pt x="1338408" y="1338408"/>
                </a:lnTo>
                <a:lnTo>
                  <a:pt x="0" y="1338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172784" y="2258462"/>
            <a:ext cx="13875598" cy="1310237"/>
            <a:chOff x="0" y="0"/>
            <a:chExt cx="18500798" cy="174698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9525"/>
              <a:ext cx="18500798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Pharse 1 - Analyse des besoins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442" y="1185007"/>
              <a:ext cx="18485914" cy="561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Défi</a:t>
              </a:r>
              <a:r>
                <a:rPr lang="en-US" sz="2499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nir les besoins et la faisabilité du projet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643999" y="4669445"/>
            <a:ext cx="4760326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📄 B</a:t>
            </a:r>
            <a:r>
              <a:rPr lang="en-US" sz="3000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esoins</a:t>
            </a:r>
            <a:r>
              <a:rPr lang="en-US" sz="3000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 principaux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Gestion des produits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Gestion des clients / fournisseurs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Commandes &amp; ventes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Statistiques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Authe</a:t>
            </a: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ntification admin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833592" y="809301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10563794" y="4564834"/>
            <a:ext cx="5513482" cy="3584244"/>
            <a:chOff x="0" y="0"/>
            <a:chExt cx="1452110" cy="9439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52110" cy="943998"/>
            </a:xfrm>
            <a:custGeom>
              <a:avLst/>
              <a:gdLst/>
              <a:ahLst/>
              <a:cxnLst/>
              <a:rect r="r" b="b" t="t" l="l"/>
              <a:pathLst>
                <a:path h="943998" w="1452110">
                  <a:moveTo>
                    <a:pt x="0" y="0"/>
                  </a:moveTo>
                  <a:lnTo>
                    <a:pt x="1452110" y="0"/>
                  </a:lnTo>
                  <a:lnTo>
                    <a:pt x="1452110" y="943998"/>
                  </a:lnTo>
                  <a:lnTo>
                    <a:pt x="0" y="943998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452110" cy="963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798655" y="4791285"/>
            <a:ext cx="4868931" cy="407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Contraintes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Technologies imposées (PHP/MySQL)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Application accessible via navigateur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Projet réalisé par 2 étudiantes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5665" y="3940994"/>
            <a:ext cx="7854548" cy="6346006"/>
            <a:chOff x="0" y="0"/>
            <a:chExt cx="2068688" cy="1671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687" cy="1671376"/>
            </a:xfrm>
            <a:custGeom>
              <a:avLst/>
              <a:gdLst/>
              <a:ahLst/>
              <a:cxnLst/>
              <a:rect r="r" b="b" t="t" l="l"/>
              <a:pathLst>
                <a:path h="1671376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671376"/>
                  </a:lnTo>
                  <a:lnTo>
                    <a:pt x="0" y="1671376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68688" cy="1690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940994"/>
            <a:ext cx="7854548" cy="6346006"/>
            <a:chOff x="0" y="0"/>
            <a:chExt cx="2068688" cy="1671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8687" cy="1671376"/>
            </a:xfrm>
            <a:custGeom>
              <a:avLst/>
              <a:gdLst/>
              <a:ahLst/>
              <a:cxnLst/>
              <a:rect r="r" b="b" t="t" l="l"/>
              <a:pathLst>
                <a:path h="1671376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671376"/>
                  </a:lnTo>
                  <a:lnTo>
                    <a:pt x="0" y="1671376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68688" cy="1690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11309" y="2256583"/>
            <a:ext cx="1438275" cy="1438275"/>
          </a:xfrm>
          <a:custGeom>
            <a:avLst/>
            <a:gdLst/>
            <a:ahLst/>
            <a:cxnLst/>
            <a:rect r="r" b="b" t="t" l="l"/>
            <a:pathLst>
              <a:path h="1438275" w="1438275">
                <a:moveTo>
                  <a:pt x="0" y="0"/>
                </a:moveTo>
                <a:lnTo>
                  <a:pt x="1438275" y="0"/>
                </a:lnTo>
                <a:lnTo>
                  <a:pt x="1438275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642404" y="3945709"/>
            <a:ext cx="6627141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💡 Spécifi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cations fonctionnelles générales</a:t>
            </a:r>
          </a:p>
          <a:p>
            <a:pPr algn="ctr" marL="0" indent="0" lvl="0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La gestion des produits (ajout, modification, suppression, recherche)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La gestion des clients, fournisseurs et commandes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Le suivi des ventes et des statistiques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L’authentification de l’administrateur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09409" y="3940994"/>
            <a:ext cx="6485403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⚙️ Spécifi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cations fonctionnelles détaillées</a:t>
            </a:r>
          </a:p>
          <a:p>
            <a:pPr algn="ctr" marL="0" indent="0" lvl="0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Ajouter un produit (nom, prix, marque, fournisseur, stock)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Créer une commande et générer un bon de livraison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Afficher les produits les plus vendus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Contrôler l’accès via login/mot de passe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3119214" y="2256583"/>
            <a:ext cx="13875598" cy="1262560"/>
            <a:chOff x="0" y="0"/>
            <a:chExt cx="18500798" cy="1683413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9525"/>
              <a:ext cx="18500798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2 – Analyse : Spécifications fonctionnelles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4884" y="1199543"/>
              <a:ext cx="1848591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5665" y="3940994"/>
            <a:ext cx="7854548" cy="6346006"/>
            <a:chOff x="0" y="0"/>
            <a:chExt cx="2068688" cy="1671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687" cy="1671376"/>
            </a:xfrm>
            <a:custGeom>
              <a:avLst/>
              <a:gdLst/>
              <a:ahLst/>
              <a:cxnLst/>
              <a:rect r="r" b="b" t="t" l="l"/>
              <a:pathLst>
                <a:path h="1671376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671376"/>
                  </a:lnTo>
                  <a:lnTo>
                    <a:pt x="0" y="1671376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68688" cy="1690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940994"/>
            <a:ext cx="7854548" cy="6346006"/>
            <a:chOff x="0" y="0"/>
            <a:chExt cx="2068688" cy="1671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8687" cy="1671376"/>
            </a:xfrm>
            <a:custGeom>
              <a:avLst/>
              <a:gdLst/>
              <a:ahLst/>
              <a:cxnLst/>
              <a:rect r="r" b="b" t="t" l="l"/>
              <a:pathLst>
                <a:path h="1671376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671376"/>
                  </a:lnTo>
                  <a:lnTo>
                    <a:pt x="0" y="1671376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68688" cy="1690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11309" y="2258174"/>
            <a:ext cx="1438275" cy="1438275"/>
          </a:xfrm>
          <a:custGeom>
            <a:avLst/>
            <a:gdLst/>
            <a:ahLst/>
            <a:cxnLst/>
            <a:rect r="r" b="b" t="t" l="l"/>
            <a:pathLst>
              <a:path h="1438275" w="1438275">
                <a:moveTo>
                  <a:pt x="0" y="0"/>
                </a:moveTo>
                <a:lnTo>
                  <a:pt x="1438275" y="0"/>
                </a:lnTo>
                <a:lnTo>
                  <a:pt x="1438275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866950" y="4881567"/>
            <a:ext cx="7467150" cy="4978100"/>
          </a:xfrm>
          <a:custGeom>
            <a:avLst/>
            <a:gdLst/>
            <a:ahLst/>
            <a:cxnLst/>
            <a:rect r="r" b="b" t="t" l="l"/>
            <a:pathLst>
              <a:path h="4978100" w="7467150">
                <a:moveTo>
                  <a:pt x="0" y="0"/>
                </a:moveTo>
                <a:lnTo>
                  <a:pt x="7467151" y="0"/>
                </a:lnTo>
                <a:lnTo>
                  <a:pt x="7467151" y="4978101"/>
                </a:lnTo>
                <a:lnTo>
                  <a:pt x="0" y="4978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642404" y="3936184"/>
            <a:ext cx="6627141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b="true" sz="2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🧠 Spécifi</a:t>
            </a:r>
            <a:r>
              <a:rPr lang="en-US" b="true" sz="20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cations techniques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Architecture trois-tiers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Couche Présentation : HTML / CSS / JavaScript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Couche Logique métier : PHP procédural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Couche Données : MySQL (tables normalisées, clés étrangères)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Sécurité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Mots de passe hashés (password_hash / password_verify)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Requêtes SQL préparées → protection contre SQL Injection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Validation des données côté serveur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Sessions sécurisées (regénération d’identifiant, contrôle d’accès)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Performance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Index sur les colonnes les plus utilisées (nom produit, date commande…)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Pagination des listes pour réduire la charge serveur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Compression GZIP + cache navigateur</a:t>
            </a:r>
          </a:p>
          <a:p>
            <a:pPr algn="l" marL="431804" indent="-215902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Optimisation des requêtes SQL (sélection ciblée, pas SELECT *)</a:t>
            </a:r>
          </a:p>
          <a:p>
            <a:pPr algn="l">
              <a:lnSpc>
                <a:spcPts val="2400"/>
              </a:lnSpc>
            </a:pPr>
          </a:p>
          <a:p>
            <a:pPr algn="l" marL="0" indent="0" lvl="0">
              <a:lnSpc>
                <a:spcPts val="24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0252055" y="3945709"/>
            <a:ext cx="66210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🧾 UML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632192" y="2252661"/>
            <a:ext cx="14701908" cy="1262560"/>
            <a:chOff x="0" y="0"/>
            <a:chExt cx="19602544" cy="1683413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9525"/>
              <a:ext cx="19602544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2 – Analyse : Spécifications techniques et UML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5770" y="1199543"/>
              <a:ext cx="1958677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5665" y="4448801"/>
            <a:ext cx="7854548" cy="5664763"/>
            <a:chOff x="0" y="0"/>
            <a:chExt cx="2068688" cy="1491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687" cy="1491954"/>
            </a:xfrm>
            <a:custGeom>
              <a:avLst/>
              <a:gdLst/>
              <a:ahLst/>
              <a:cxnLst/>
              <a:rect r="r" b="b" t="t" l="l"/>
              <a:pathLst>
                <a:path h="1491954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68688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448801"/>
            <a:ext cx="7854548" cy="5664763"/>
            <a:chOff x="0" y="0"/>
            <a:chExt cx="2068688" cy="1491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8687" cy="1491954"/>
            </a:xfrm>
            <a:custGeom>
              <a:avLst/>
              <a:gdLst/>
              <a:ahLst/>
              <a:cxnLst/>
              <a:rect r="r" b="b" t="t" l="l"/>
              <a:pathLst>
                <a:path h="1491954" w="2068687">
                  <a:moveTo>
                    <a:pt x="0" y="0"/>
                  </a:moveTo>
                  <a:lnTo>
                    <a:pt x="2068687" y="0"/>
                  </a:lnTo>
                  <a:lnTo>
                    <a:pt x="206868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68688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42404" y="4517209"/>
            <a:ext cx="6627141" cy="502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💡 Archi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tecture logique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Modules fonctionnels :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 Authentification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 Administration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 Produits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odule Commandes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 Clients / Fournisseurs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Module Statistiques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Interaction avec MySQL (CRUD complet)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Logique métier codée en PHP procédural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09409" y="4517209"/>
            <a:ext cx="6485403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⚙️ Archi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tecture physique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Client : Navigateur Web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Serveur : Apache + PHP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Base de données : MySQL local via XAMPP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2632192" y="2252661"/>
            <a:ext cx="14701908" cy="1262560"/>
            <a:chOff x="0" y="0"/>
            <a:chExt cx="19602544" cy="168341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9525"/>
              <a:ext cx="19602544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3 – Conception : Architecture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770" y="1199543"/>
              <a:ext cx="1958677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20997" y="1934844"/>
            <a:ext cx="1418899" cy="1898193"/>
          </a:xfrm>
          <a:custGeom>
            <a:avLst/>
            <a:gdLst/>
            <a:ahLst/>
            <a:cxnLst/>
            <a:rect r="r" b="b" t="t" l="l"/>
            <a:pathLst>
              <a:path h="1898193" w="1418899">
                <a:moveTo>
                  <a:pt x="0" y="0"/>
                </a:moveTo>
                <a:lnTo>
                  <a:pt x="1418899" y="0"/>
                </a:lnTo>
                <a:lnTo>
                  <a:pt x="1418899" y="1898193"/>
                </a:lnTo>
                <a:lnTo>
                  <a:pt x="0" y="189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80997" y="4448255"/>
            <a:ext cx="5796948" cy="5487625"/>
            <a:chOff x="0" y="0"/>
            <a:chExt cx="1526768" cy="144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6768" cy="1445300"/>
            </a:xfrm>
            <a:custGeom>
              <a:avLst/>
              <a:gdLst/>
              <a:ahLst/>
              <a:cxnLst/>
              <a:rect r="r" b="b" t="t" l="l"/>
              <a:pathLst>
                <a:path h="1445300" w="1526768">
                  <a:moveTo>
                    <a:pt x="0" y="0"/>
                  </a:moveTo>
                  <a:lnTo>
                    <a:pt x="1526768" y="0"/>
                  </a:lnTo>
                  <a:lnTo>
                    <a:pt x="1526768" y="1445300"/>
                  </a:lnTo>
                  <a:lnTo>
                    <a:pt x="0" y="1445300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526768" cy="146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4476305"/>
            <a:ext cx="5796743" cy="5459575"/>
            <a:chOff x="0" y="0"/>
            <a:chExt cx="1526714" cy="1437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6714" cy="1437913"/>
            </a:xfrm>
            <a:custGeom>
              <a:avLst/>
              <a:gdLst/>
              <a:ahLst/>
              <a:cxnLst/>
              <a:rect r="r" b="b" t="t" l="l"/>
              <a:pathLst>
                <a:path h="1437913" w="1526714">
                  <a:moveTo>
                    <a:pt x="0" y="0"/>
                  </a:moveTo>
                  <a:lnTo>
                    <a:pt x="1526714" y="0"/>
                  </a:lnTo>
                  <a:lnTo>
                    <a:pt x="1526714" y="1437913"/>
                  </a:lnTo>
                  <a:lnTo>
                    <a:pt x="0" y="143791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526714" cy="1456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20997" y="1934844"/>
            <a:ext cx="1418899" cy="1898193"/>
          </a:xfrm>
          <a:custGeom>
            <a:avLst/>
            <a:gdLst/>
            <a:ahLst/>
            <a:cxnLst/>
            <a:rect r="r" b="b" t="t" l="l"/>
            <a:pathLst>
              <a:path h="1898193" w="1418899">
                <a:moveTo>
                  <a:pt x="0" y="0"/>
                </a:moveTo>
                <a:lnTo>
                  <a:pt x="1418899" y="0"/>
                </a:lnTo>
                <a:lnTo>
                  <a:pt x="1418899" y="1898193"/>
                </a:lnTo>
                <a:lnTo>
                  <a:pt x="0" y="189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683280" y="4476305"/>
            <a:ext cx="5604720" cy="5459575"/>
            <a:chOff x="0" y="0"/>
            <a:chExt cx="1476140" cy="14379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76140" cy="1437913"/>
            </a:xfrm>
            <a:custGeom>
              <a:avLst/>
              <a:gdLst/>
              <a:ahLst/>
              <a:cxnLst/>
              <a:rect r="r" b="b" t="t" l="l"/>
              <a:pathLst>
                <a:path h="1437913" w="1476140">
                  <a:moveTo>
                    <a:pt x="0" y="0"/>
                  </a:moveTo>
                  <a:lnTo>
                    <a:pt x="1476140" y="0"/>
                  </a:lnTo>
                  <a:lnTo>
                    <a:pt x="1476140" y="1437913"/>
                  </a:lnTo>
                  <a:lnTo>
                    <a:pt x="0" y="143791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476140" cy="1456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300690" y="5333034"/>
            <a:ext cx="5496053" cy="3400683"/>
          </a:xfrm>
          <a:custGeom>
            <a:avLst/>
            <a:gdLst/>
            <a:ahLst/>
            <a:cxnLst/>
            <a:rect r="r" b="b" t="t" l="l"/>
            <a:pathLst>
              <a:path h="3400683" w="5496053">
                <a:moveTo>
                  <a:pt x="0" y="0"/>
                </a:moveTo>
                <a:lnTo>
                  <a:pt x="5496053" y="0"/>
                </a:lnTo>
                <a:lnTo>
                  <a:pt x="5496053" y="3400683"/>
                </a:lnTo>
                <a:lnTo>
                  <a:pt x="0" y="3400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277140" y="6138632"/>
            <a:ext cx="5800806" cy="2211557"/>
          </a:xfrm>
          <a:custGeom>
            <a:avLst/>
            <a:gdLst/>
            <a:ahLst/>
            <a:cxnLst/>
            <a:rect r="r" b="b" t="t" l="l"/>
            <a:pathLst>
              <a:path h="2211557" w="5800806">
                <a:moveTo>
                  <a:pt x="0" y="0"/>
                </a:moveTo>
                <a:lnTo>
                  <a:pt x="5800805" y="0"/>
                </a:lnTo>
                <a:lnTo>
                  <a:pt x="5800805" y="2211557"/>
                </a:lnTo>
                <a:lnTo>
                  <a:pt x="0" y="2211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537085" y="4947580"/>
            <a:ext cx="3897110" cy="4988300"/>
          </a:xfrm>
          <a:custGeom>
            <a:avLst/>
            <a:gdLst/>
            <a:ahLst/>
            <a:cxnLst/>
            <a:rect r="r" b="b" t="t" l="l"/>
            <a:pathLst>
              <a:path h="4988300" w="3897110">
                <a:moveTo>
                  <a:pt x="0" y="0"/>
                </a:moveTo>
                <a:lnTo>
                  <a:pt x="3897110" y="0"/>
                </a:lnTo>
                <a:lnTo>
                  <a:pt x="3897110" y="4988300"/>
                </a:lnTo>
                <a:lnTo>
                  <a:pt x="0" y="498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632192" y="2252661"/>
            <a:ext cx="14701908" cy="1262560"/>
            <a:chOff x="0" y="0"/>
            <a:chExt cx="19602544" cy="1683413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9525"/>
              <a:ext cx="19602544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3 – Conception : Maquettes / Interfaces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770" y="1199543"/>
              <a:ext cx="1958677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-350001" y="4544834"/>
            <a:ext cx="66271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Login page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94776" y="4544834"/>
            <a:ext cx="66271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Dashboard / Ac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cueil admin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77945" y="4448255"/>
            <a:ext cx="66271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CRUD tabl</a:t>
            </a:r>
            <a:r>
              <a:rPr lang="en-US" b="true" sz="2799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448801"/>
            <a:ext cx="5620160" cy="5664763"/>
            <a:chOff x="0" y="0"/>
            <a:chExt cx="1480207" cy="1491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32192" y="2252661"/>
            <a:ext cx="14701908" cy="1262560"/>
            <a:chOff x="0" y="0"/>
            <a:chExt cx="19602544" cy="168341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9525"/>
              <a:ext cx="19602544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4 – Développement technique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770" y="1199543"/>
              <a:ext cx="1958677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74310" y="2067648"/>
            <a:ext cx="1512271" cy="1637302"/>
          </a:xfrm>
          <a:custGeom>
            <a:avLst/>
            <a:gdLst/>
            <a:ahLst/>
            <a:cxnLst/>
            <a:rect r="r" b="b" t="t" l="l"/>
            <a:pathLst>
              <a:path h="1637302" w="1512271">
                <a:moveTo>
                  <a:pt x="0" y="0"/>
                </a:moveTo>
                <a:lnTo>
                  <a:pt x="1512272" y="0"/>
                </a:lnTo>
                <a:lnTo>
                  <a:pt x="1512272" y="1637301"/>
                </a:lnTo>
                <a:lnTo>
                  <a:pt x="0" y="1637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298266" y="4448801"/>
            <a:ext cx="5620160" cy="5664763"/>
            <a:chOff x="0" y="0"/>
            <a:chExt cx="1480207" cy="14919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94701" y="4448801"/>
            <a:ext cx="5620160" cy="5664763"/>
            <a:chOff x="0" y="0"/>
            <a:chExt cx="1480207" cy="14919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0" y="4507684"/>
            <a:ext cx="541039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📌 Organisation du projet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Back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end : PHP pr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océdural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Fro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ntend : HTML, CSS, JS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DB : MySQL</a:t>
            </a:r>
          </a:p>
          <a:p>
            <a:pPr algn="ctr" marL="0" indent="0" lvl="0">
              <a:lnSpc>
                <a:spcPts val="335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298266" y="4507684"/>
            <a:ext cx="5410395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📌 Structure du code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admi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n/ :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public/ : l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ogi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n, home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includes/config.php : connexion BDD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assets/ : CSS, JS</a:t>
            </a:r>
          </a:p>
          <a:p>
            <a:pPr algn="ctr" marL="0" indent="0" lvl="0">
              <a:lnSpc>
                <a:spcPts val="335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2594701" y="4507684"/>
            <a:ext cx="5410395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📌 Services principaux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Authentificatio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 (login / logo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ut / register)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Séc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urisation via sessi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ns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CRUD produits, clients, fournisseurs, catégories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St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atistiques dynamique</a:t>
            </a:r>
          </a:p>
          <a:p>
            <a:pPr algn="ctr" marL="0" indent="0" lvl="0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1320" y="4448801"/>
            <a:ext cx="5620160" cy="5664763"/>
            <a:chOff x="0" y="0"/>
            <a:chExt cx="1480207" cy="1491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020" y="4448801"/>
            <a:ext cx="5620160" cy="5664763"/>
            <a:chOff x="0" y="0"/>
            <a:chExt cx="1480207" cy="1491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1826888"/>
            <a:ext cx="16305401" cy="2118821"/>
            <a:chOff x="0" y="0"/>
            <a:chExt cx="4294426" cy="558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4427" cy="558043"/>
            </a:xfrm>
            <a:custGeom>
              <a:avLst/>
              <a:gdLst/>
              <a:ahLst/>
              <a:cxnLst/>
              <a:rect r="r" b="b" t="t" l="l"/>
              <a:pathLst>
                <a:path h="558043" w="4294427">
                  <a:moveTo>
                    <a:pt x="0" y="0"/>
                  </a:moveTo>
                  <a:lnTo>
                    <a:pt x="4294427" y="0"/>
                  </a:lnTo>
                  <a:lnTo>
                    <a:pt x="4294427" y="558043"/>
                  </a:lnTo>
                  <a:lnTo>
                    <a:pt x="0" y="558043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4426" cy="577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1826888"/>
            <a:ext cx="1603492" cy="2114106"/>
            <a:chOff x="0" y="0"/>
            <a:chExt cx="422319" cy="556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319" cy="556802"/>
            </a:xfrm>
            <a:custGeom>
              <a:avLst/>
              <a:gdLst/>
              <a:ahLst/>
              <a:cxnLst/>
              <a:rect r="r" b="b" t="t" l="l"/>
              <a:pathLst>
                <a:path h="556802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556802"/>
                  </a:lnTo>
                  <a:lnTo>
                    <a:pt x="0" y="556802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319" cy="575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32192" y="2252661"/>
            <a:ext cx="14701908" cy="1262560"/>
            <a:chOff x="0" y="0"/>
            <a:chExt cx="19602544" cy="1683413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9525"/>
              <a:ext cx="19602544" cy="99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6"/>
                </a:lnSpc>
                <a:spcBef>
                  <a:spcPct val="0"/>
                </a:spcBef>
              </a:pP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Phase</a:t>
              </a:r>
              <a:r>
                <a:rPr lang="en-US" b="true" sz="4997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4 – Tests et validation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770" y="1199543"/>
              <a:ext cx="19586774" cy="483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65020" y="4507684"/>
            <a:ext cx="541039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🧪 Types de tests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Tests f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onctionnels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Tests d’interface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Tests de navigation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Tests de validation des données</a:t>
            </a:r>
          </a:p>
          <a:p>
            <a:pPr algn="ctr" marL="0" indent="0" lvl="0">
              <a:lnSpc>
                <a:spcPts val="3359"/>
              </a:lnSpc>
            </a:pPr>
          </a:p>
        </p:txBody>
      </p:sp>
      <p:grpSp>
        <p:nvGrpSpPr>
          <p:cNvPr name="Group 35" id="35"/>
          <p:cNvGrpSpPr/>
          <p:nvPr/>
        </p:nvGrpSpPr>
        <p:grpSpPr>
          <a:xfrm rot="0">
            <a:off x="12382005" y="4448801"/>
            <a:ext cx="5620160" cy="5664763"/>
            <a:chOff x="0" y="0"/>
            <a:chExt cx="1480207" cy="14919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80207" cy="1491954"/>
            </a:xfrm>
            <a:custGeom>
              <a:avLst/>
              <a:gdLst/>
              <a:ahLst/>
              <a:cxnLst/>
              <a:rect r="r" b="b" t="t" l="l"/>
              <a:pathLst>
                <a:path h="1491954" w="1480207">
                  <a:moveTo>
                    <a:pt x="0" y="0"/>
                  </a:moveTo>
                  <a:lnTo>
                    <a:pt x="1480207" y="0"/>
                  </a:lnTo>
                  <a:lnTo>
                    <a:pt x="1480207" y="1491954"/>
                  </a:lnTo>
                  <a:lnTo>
                    <a:pt x="0" y="149195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480207" cy="1511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438802" y="4507684"/>
            <a:ext cx="5410395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🧪 Résultats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Connexion / Inscription : OK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Da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shboard : OK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CRUD produits / clients / commandes : OK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Responsive : OK</a:t>
            </a:r>
          </a:p>
          <a:p>
            <a:pPr algn="l" marL="0" indent="0" lvl="0">
              <a:lnSpc>
                <a:spcPts val="335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2448680" y="4448801"/>
            <a:ext cx="541039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🧩 Anomalies corrigées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Messages d’erreur en anglais → FR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Vérification mot de passe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Sécu</a:t>
            </a:r>
            <a:r>
              <a:rPr lang="en-US" sz="2799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rité session renforcée</a:t>
            </a:r>
          </a:p>
          <a:p>
            <a:pPr algn="l" marL="0" indent="0" lvl="0">
              <a:lnSpc>
                <a:spcPts val="3359"/>
              </a:lnSpc>
            </a:pP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55325" y="2268088"/>
            <a:ext cx="1350243" cy="1247133"/>
          </a:xfrm>
          <a:custGeom>
            <a:avLst/>
            <a:gdLst/>
            <a:ahLst/>
            <a:cxnLst/>
            <a:rect r="r" b="b" t="t" l="l"/>
            <a:pathLst>
              <a:path h="1247133" w="1350243">
                <a:moveTo>
                  <a:pt x="0" y="0"/>
                </a:moveTo>
                <a:lnTo>
                  <a:pt x="1350242" y="0"/>
                </a:lnTo>
                <a:lnTo>
                  <a:pt x="1350242" y="1247133"/>
                </a:lnTo>
                <a:lnTo>
                  <a:pt x="0" y="1247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86648" y="2349365"/>
            <a:ext cx="14747452" cy="1076293"/>
            <a:chOff x="0" y="0"/>
            <a:chExt cx="3884103" cy="2834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84103" cy="283468"/>
            </a:xfrm>
            <a:custGeom>
              <a:avLst/>
              <a:gdLst/>
              <a:ahLst/>
              <a:cxnLst/>
              <a:rect r="r" b="b" t="t" l="l"/>
              <a:pathLst>
                <a:path h="283468" w="3884103">
                  <a:moveTo>
                    <a:pt x="0" y="0"/>
                  </a:moveTo>
                  <a:lnTo>
                    <a:pt x="3884103" y="0"/>
                  </a:lnTo>
                  <a:lnTo>
                    <a:pt x="3884103" y="283468"/>
                  </a:lnTo>
                  <a:lnTo>
                    <a:pt x="0" y="283468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884103" cy="302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349365"/>
            <a:ext cx="1603492" cy="1076293"/>
            <a:chOff x="0" y="0"/>
            <a:chExt cx="422319" cy="2834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2319" cy="283468"/>
            </a:xfrm>
            <a:custGeom>
              <a:avLst/>
              <a:gdLst/>
              <a:ahLst/>
              <a:cxnLst/>
              <a:rect r="r" b="b" t="t" l="l"/>
              <a:pathLst>
                <a:path h="283468" w="422319">
                  <a:moveTo>
                    <a:pt x="0" y="0"/>
                  </a:moveTo>
                  <a:lnTo>
                    <a:pt x="422319" y="0"/>
                  </a:lnTo>
                  <a:lnTo>
                    <a:pt x="422319" y="283468"/>
                  </a:lnTo>
                  <a:lnTo>
                    <a:pt x="0" y="283468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22319" cy="302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847299"/>
            <a:ext cx="12079974" cy="6155651"/>
            <a:chOff x="0" y="0"/>
            <a:chExt cx="3181557" cy="16212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81557" cy="1621241"/>
            </a:xfrm>
            <a:custGeom>
              <a:avLst/>
              <a:gdLst/>
              <a:ahLst/>
              <a:cxnLst/>
              <a:rect r="r" b="b" t="t" l="l"/>
              <a:pathLst>
                <a:path h="1621241" w="3181557">
                  <a:moveTo>
                    <a:pt x="0" y="0"/>
                  </a:moveTo>
                  <a:lnTo>
                    <a:pt x="3181557" y="0"/>
                  </a:lnTo>
                  <a:lnTo>
                    <a:pt x="3181557" y="1621241"/>
                  </a:lnTo>
                  <a:lnTo>
                    <a:pt x="0" y="1621241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181557" cy="1640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3712334" y="5661357"/>
            <a:ext cx="4192229" cy="4192229"/>
          </a:xfrm>
          <a:custGeom>
            <a:avLst/>
            <a:gdLst/>
            <a:ahLst/>
            <a:cxnLst/>
            <a:rect r="r" b="b" t="t" l="l"/>
            <a:pathLst>
              <a:path h="4192229" w="4192229">
                <a:moveTo>
                  <a:pt x="0" y="0"/>
                </a:moveTo>
                <a:lnTo>
                  <a:pt x="4192229" y="0"/>
                </a:lnTo>
                <a:lnTo>
                  <a:pt x="4192229" y="4192229"/>
                </a:lnTo>
                <a:lnTo>
                  <a:pt x="0" y="41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037798" y="2492224"/>
            <a:ext cx="1383533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96"/>
              </a:lnSpc>
              <a:spcBef>
                <a:spcPct val="0"/>
              </a:spcBef>
            </a:pPr>
            <a:r>
              <a:rPr lang="en-US" b="true" sz="49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Conclusion 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45008" y="2482699"/>
            <a:ext cx="970876" cy="866727"/>
          </a:xfrm>
          <a:custGeom>
            <a:avLst/>
            <a:gdLst/>
            <a:ahLst/>
            <a:cxnLst/>
            <a:rect r="r" b="b" t="t" l="l"/>
            <a:pathLst>
              <a:path h="866727" w="970876">
                <a:moveTo>
                  <a:pt x="0" y="0"/>
                </a:moveTo>
                <a:lnTo>
                  <a:pt x="970876" y="0"/>
                </a:lnTo>
                <a:lnTo>
                  <a:pt x="970876" y="866728"/>
                </a:lnTo>
                <a:lnTo>
                  <a:pt x="0" y="866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72578" y="3905700"/>
            <a:ext cx="12036097" cy="603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Projet appliqué et formateur en Systèmes d’Information</a:t>
            </a:r>
          </a:p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Développement d’une application complète : produits, clients, fourniss</a:t>
            </a: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eurs, commandes, statistiques</a:t>
            </a:r>
          </a:p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Meilleure compr</a:t>
            </a: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éhension de l’architecture web (PHP / MySQL / Clie</a:t>
            </a: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nt–Serveur)</a:t>
            </a:r>
          </a:p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Renforcement des compétences :</a:t>
            </a:r>
          </a:p>
          <a:p>
            <a:pPr algn="l">
              <a:lnSpc>
                <a:spcPts val="3116"/>
              </a:lnSpc>
            </a:pP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modélisation (UML, modèle de données)</a:t>
            </a:r>
          </a:p>
          <a:p>
            <a:pPr algn="l">
              <a:lnSpc>
                <a:spcPts val="3116"/>
              </a:lnSpc>
            </a:pP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sécurité (hash, requêtes préparées)</a:t>
            </a:r>
          </a:p>
          <a:p>
            <a:pPr algn="l">
              <a:lnSpc>
                <a:spcPts val="3116"/>
              </a:lnSpc>
            </a:pP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performance (index, pagination)</a:t>
            </a:r>
          </a:p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Travail en binôme efficace et structuré</a:t>
            </a:r>
          </a:p>
          <a:p>
            <a:pPr algn="l">
              <a:lnSpc>
                <a:spcPts val="3116"/>
              </a:lnSpc>
            </a:pPr>
          </a:p>
          <a:p>
            <a:pPr algn="l" marL="560727" indent="-280363" lvl="1">
              <a:lnSpc>
                <a:spcPts val="3116"/>
              </a:lnSpc>
              <a:buFont typeface="Arial"/>
              <a:buChar char="•"/>
            </a:pP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P</a:t>
            </a:r>
            <a:r>
              <a:rPr lang="en-US" b="true" sz="259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erspectives :</a:t>
            </a:r>
          </a:p>
          <a:p>
            <a:pPr algn="l">
              <a:lnSpc>
                <a:spcPts val="3116"/>
              </a:lnSpc>
            </a:pPr>
            <a:r>
              <a:rPr lang="en-US" sz="2597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Intégrati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on du paiement en ligne</a:t>
            </a:r>
          </a:p>
          <a:p>
            <a:pPr algn="l">
              <a:lnSpc>
                <a:spcPts val="3116"/>
              </a:lnSpc>
            </a:pPr>
            <a:r>
              <a:rPr lang="en-US" sz="2597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Gestion des retours</a:t>
            </a:r>
          </a:p>
          <a:p>
            <a:pPr algn="l">
              <a:lnSpc>
                <a:spcPts val="3116"/>
              </a:lnSpc>
            </a:pPr>
            <a:r>
              <a:rPr lang="en-US" sz="2597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Avis clients</a:t>
            </a:r>
          </a:p>
          <a:p>
            <a:pPr algn="l">
              <a:lnSpc>
                <a:spcPts val="3116"/>
              </a:lnSpc>
            </a:pPr>
            <a:r>
              <a:rPr lang="en-US" sz="2597">
                <a:solidFill>
                  <a:srgbClr val="BC1823"/>
                </a:solidFill>
                <a:latin typeface="Cabin"/>
                <a:ea typeface="Cabin"/>
                <a:cs typeface="Cabin"/>
                <a:sym typeface="Cabin"/>
              </a:rPr>
              <a:t>+ </a:t>
            </a:r>
            <a:r>
              <a:rPr lang="en-US" sz="2597" b="true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Amélioration de l’interface et de l’expérience utilisateur</a:t>
            </a:r>
          </a:p>
          <a:p>
            <a:pPr algn="l" marL="0" indent="0" lvl="0">
              <a:lnSpc>
                <a:spcPts val="14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88657" y="2867256"/>
            <a:ext cx="4738542" cy="1613736"/>
            <a:chOff x="0" y="0"/>
            <a:chExt cx="1248011" cy="4250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8011" cy="425017"/>
            </a:xfrm>
            <a:custGeom>
              <a:avLst/>
              <a:gdLst/>
              <a:ahLst/>
              <a:cxnLst/>
              <a:rect r="r" b="b" t="t" l="l"/>
              <a:pathLst>
                <a:path h="425017" w="1248011">
                  <a:moveTo>
                    <a:pt x="0" y="0"/>
                  </a:moveTo>
                  <a:lnTo>
                    <a:pt x="1248011" y="0"/>
                  </a:lnTo>
                  <a:lnTo>
                    <a:pt x="1248011" y="425017"/>
                  </a:lnTo>
                  <a:lnTo>
                    <a:pt x="0" y="425017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48011" cy="444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867256"/>
            <a:ext cx="1079007" cy="1613736"/>
            <a:chOff x="0" y="0"/>
            <a:chExt cx="284183" cy="4250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183" cy="425017"/>
            </a:xfrm>
            <a:custGeom>
              <a:avLst/>
              <a:gdLst/>
              <a:ahLst/>
              <a:cxnLst/>
              <a:rect r="r" b="b" t="t" l="l"/>
              <a:pathLst>
                <a:path h="425017" w="284183">
                  <a:moveTo>
                    <a:pt x="0" y="0"/>
                  </a:moveTo>
                  <a:lnTo>
                    <a:pt x="284183" y="0"/>
                  </a:lnTo>
                  <a:lnTo>
                    <a:pt x="284183" y="425017"/>
                  </a:lnTo>
                  <a:lnTo>
                    <a:pt x="0" y="425017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84183" cy="444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48002" y="2867256"/>
            <a:ext cx="9485732" cy="6333155"/>
            <a:chOff x="0" y="0"/>
            <a:chExt cx="2498300" cy="1667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98300" cy="1667991"/>
            </a:xfrm>
            <a:custGeom>
              <a:avLst/>
              <a:gdLst/>
              <a:ahLst/>
              <a:cxnLst/>
              <a:rect r="r" b="b" t="t" l="l"/>
              <a:pathLst>
                <a:path h="1667991" w="2498300">
                  <a:moveTo>
                    <a:pt x="0" y="0"/>
                  </a:moveTo>
                  <a:lnTo>
                    <a:pt x="2498300" y="0"/>
                  </a:lnTo>
                  <a:lnTo>
                    <a:pt x="2498300" y="1667991"/>
                  </a:lnTo>
                  <a:lnTo>
                    <a:pt x="0" y="1667991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98300" cy="1687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250874" y="3270116"/>
            <a:ext cx="634659" cy="808016"/>
          </a:xfrm>
          <a:custGeom>
            <a:avLst/>
            <a:gdLst/>
            <a:ahLst/>
            <a:cxnLst/>
            <a:rect r="r" b="b" t="t" l="l"/>
            <a:pathLst>
              <a:path h="808016" w="634659">
                <a:moveTo>
                  <a:pt x="0" y="0"/>
                </a:moveTo>
                <a:lnTo>
                  <a:pt x="634659" y="0"/>
                </a:lnTo>
                <a:lnTo>
                  <a:pt x="634659" y="808015"/>
                </a:lnTo>
                <a:lnTo>
                  <a:pt x="0" y="80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885533" y="53828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463068" y="3402661"/>
            <a:ext cx="398972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  <a:spcBef>
                <a:spcPct val="0"/>
              </a:spcBef>
            </a:pPr>
            <a:r>
              <a:rPr lang="en-US" b="true" sz="3747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Source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312206" y="3270116"/>
            <a:ext cx="8106818" cy="857250"/>
            <a:chOff x="0" y="0"/>
            <a:chExt cx="10809090" cy="114300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0"/>
              <a:ext cx="1080909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b="true" sz="2900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Wikipedia</a:t>
              </a:r>
              <a:r>
                <a:rPr lang="en-US" b="true" sz="2900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727075"/>
              <a:ext cx="1080909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312206" y="3955111"/>
            <a:ext cx="8106818" cy="857250"/>
            <a:chOff x="0" y="0"/>
            <a:chExt cx="10809090" cy="114300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0"/>
              <a:ext cx="1080909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b="true" sz="2900">
                  <a:solidFill>
                    <a:srgbClr val="BC182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(Manpage ) manpagesfr.free.fr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727075"/>
              <a:ext cx="1080909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312206" y="4736254"/>
            <a:ext cx="810681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(Stack</a:t>
            </a:r>
            <a:r>
              <a:rPr lang="en-US" b="true" sz="29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 overflow) stackoverflow.com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12206" y="5382834"/>
            <a:ext cx="810681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You</a:t>
            </a:r>
            <a:r>
              <a:rPr lang="en-US" b="true" sz="2900">
                <a:solidFill>
                  <a:srgbClr val="BC1823"/>
                </a:solidFill>
                <a:latin typeface="Cabin Bold"/>
                <a:ea typeface="Cabin Bold"/>
                <a:cs typeface="Cabin Bold"/>
                <a:sym typeface="Cabin Bold"/>
              </a:rPr>
              <a:t>Tube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7908" y="816852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796602" y="-3127261"/>
            <a:ext cx="8623488" cy="18531786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7980" cy="8161819"/>
            </a:xfrm>
            <a:custGeom>
              <a:avLst/>
              <a:gdLst/>
              <a:ahLst/>
              <a:cxnLst/>
              <a:rect r="r" b="b" t="t" l="l"/>
              <a:pathLst>
                <a:path h="8161819" w="3797980">
                  <a:moveTo>
                    <a:pt x="3797980" y="90186"/>
                  </a:moveTo>
                  <a:lnTo>
                    <a:pt x="3797980" y="0"/>
                  </a:lnTo>
                  <a:lnTo>
                    <a:pt x="20983" y="0"/>
                  </a:lnTo>
                  <a:lnTo>
                    <a:pt x="20983" y="45093"/>
                  </a:lnTo>
                  <a:lnTo>
                    <a:pt x="0" y="45093"/>
                  </a:lnTo>
                  <a:lnTo>
                    <a:pt x="0" y="8161819"/>
                  </a:lnTo>
                  <a:lnTo>
                    <a:pt x="41967" y="8161819"/>
                  </a:lnTo>
                  <a:lnTo>
                    <a:pt x="41967" y="6583566"/>
                  </a:lnTo>
                  <a:lnTo>
                    <a:pt x="755399" y="6583566"/>
                  </a:lnTo>
                  <a:lnTo>
                    <a:pt x="755399" y="8161819"/>
                  </a:lnTo>
                  <a:lnTo>
                    <a:pt x="797366" y="8161819"/>
                  </a:lnTo>
                  <a:lnTo>
                    <a:pt x="797366" y="6583566"/>
                  </a:lnTo>
                  <a:lnTo>
                    <a:pt x="1510799" y="6583566"/>
                  </a:lnTo>
                  <a:lnTo>
                    <a:pt x="1510799" y="8161819"/>
                  </a:lnTo>
                  <a:lnTo>
                    <a:pt x="1552765" y="8161819"/>
                  </a:lnTo>
                  <a:lnTo>
                    <a:pt x="1552765" y="6583566"/>
                  </a:lnTo>
                  <a:lnTo>
                    <a:pt x="2266198" y="6583566"/>
                  </a:lnTo>
                  <a:lnTo>
                    <a:pt x="2266198" y="8161819"/>
                  </a:lnTo>
                  <a:lnTo>
                    <a:pt x="2308165" y="8161819"/>
                  </a:lnTo>
                  <a:lnTo>
                    <a:pt x="2308165" y="6583566"/>
                  </a:lnTo>
                  <a:lnTo>
                    <a:pt x="3021597" y="6583566"/>
                  </a:lnTo>
                  <a:lnTo>
                    <a:pt x="3021597" y="8161819"/>
                  </a:lnTo>
                  <a:lnTo>
                    <a:pt x="3063564" y="8161819"/>
                  </a:lnTo>
                  <a:lnTo>
                    <a:pt x="3063564" y="6583566"/>
                  </a:lnTo>
                  <a:lnTo>
                    <a:pt x="3797980" y="6583566"/>
                  </a:lnTo>
                  <a:lnTo>
                    <a:pt x="3797980" y="6493381"/>
                  </a:lnTo>
                  <a:lnTo>
                    <a:pt x="3063564" y="6493381"/>
                  </a:lnTo>
                  <a:lnTo>
                    <a:pt x="3063564" y="4960221"/>
                  </a:lnTo>
                  <a:lnTo>
                    <a:pt x="3797980" y="4960221"/>
                  </a:lnTo>
                  <a:lnTo>
                    <a:pt x="3797980" y="4870036"/>
                  </a:lnTo>
                  <a:lnTo>
                    <a:pt x="3063564" y="4870036"/>
                  </a:lnTo>
                  <a:lnTo>
                    <a:pt x="3063564" y="3336876"/>
                  </a:lnTo>
                  <a:lnTo>
                    <a:pt x="3797980" y="3336876"/>
                  </a:lnTo>
                  <a:lnTo>
                    <a:pt x="3797980" y="3246690"/>
                  </a:lnTo>
                  <a:lnTo>
                    <a:pt x="3063564" y="3246690"/>
                  </a:lnTo>
                  <a:lnTo>
                    <a:pt x="3063564" y="1713531"/>
                  </a:lnTo>
                  <a:lnTo>
                    <a:pt x="3797980" y="1713531"/>
                  </a:lnTo>
                  <a:lnTo>
                    <a:pt x="3797980" y="1623345"/>
                  </a:lnTo>
                  <a:lnTo>
                    <a:pt x="3063564" y="1623345"/>
                  </a:lnTo>
                  <a:lnTo>
                    <a:pt x="3063564" y="90186"/>
                  </a:lnTo>
                  <a:lnTo>
                    <a:pt x="3797980" y="90186"/>
                  </a:lnTo>
                  <a:close/>
                  <a:moveTo>
                    <a:pt x="797366" y="1623345"/>
                  </a:moveTo>
                  <a:lnTo>
                    <a:pt x="797366" y="90186"/>
                  </a:lnTo>
                  <a:lnTo>
                    <a:pt x="1510799" y="90186"/>
                  </a:lnTo>
                  <a:lnTo>
                    <a:pt x="1510799" y="1623345"/>
                  </a:lnTo>
                  <a:lnTo>
                    <a:pt x="797366" y="1623345"/>
                  </a:lnTo>
                  <a:close/>
                  <a:moveTo>
                    <a:pt x="1510799" y="1713531"/>
                  </a:moveTo>
                  <a:lnTo>
                    <a:pt x="1510799" y="3246690"/>
                  </a:lnTo>
                  <a:lnTo>
                    <a:pt x="797366" y="3246690"/>
                  </a:lnTo>
                  <a:lnTo>
                    <a:pt x="797366" y="1713531"/>
                  </a:lnTo>
                  <a:lnTo>
                    <a:pt x="1510799" y="1713531"/>
                  </a:lnTo>
                  <a:close/>
                  <a:moveTo>
                    <a:pt x="755399" y="1623345"/>
                  </a:moveTo>
                  <a:lnTo>
                    <a:pt x="41967" y="1623345"/>
                  </a:lnTo>
                  <a:lnTo>
                    <a:pt x="41967" y="90186"/>
                  </a:lnTo>
                  <a:lnTo>
                    <a:pt x="755399" y="90186"/>
                  </a:lnTo>
                  <a:lnTo>
                    <a:pt x="755399" y="1623345"/>
                  </a:lnTo>
                  <a:close/>
                  <a:moveTo>
                    <a:pt x="755399" y="1713531"/>
                  </a:moveTo>
                  <a:lnTo>
                    <a:pt x="755399" y="3246690"/>
                  </a:lnTo>
                  <a:lnTo>
                    <a:pt x="41967" y="3246690"/>
                  </a:lnTo>
                  <a:lnTo>
                    <a:pt x="41967" y="1713531"/>
                  </a:lnTo>
                  <a:lnTo>
                    <a:pt x="755399" y="1713531"/>
                  </a:lnTo>
                  <a:close/>
                  <a:moveTo>
                    <a:pt x="755399" y="3336876"/>
                  </a:moveTo>
                  <a:lnTo>
                    <a:pt x="755399" y="4870036"/>
                  </a:lnTo>
                  <a:lnTo>
                    <a:pt x="41967" y="4870036"/>
                  </a:lnTo>
                  <a:lnTo>
                    <a:pt x="41967" y="3336876"/>
                  </a:lnTo>
                  <a:lnTo>
                    <a:pt x="755399" y="3336876"/>
                  </a:lnTo>
                  <a:close/>
                  <a:moveTo>
                    <a:pt x="797366" y="3336876"/>
                  </a:moveTo>
                  <a:lnTo>
                    <a:pt x="1510799" y="3336876"/>
                  </a:lnTo>
                  <a:lnTo>
                    <a:pt x="1510799" y="4870036"/>
                  </a:lnTo>
                  <a:lnTo>
                    <a:pt x="797366" y="4870036"/>
                  </a:lnTo>
                  <a:lnTo>
                    <a:pt x="797366" y="3336876"/>
                  </a:lnTo>
                  <a:close/>
                  <a:moveTo>
                    <a:pt x="1552765" y="3336876"/>
                  </a:moveTo>
                  <a:lnTo>
                    <a:pt x="2266198" y="3336876"/>
                  </a:lnTo>
                  <a:lnTo>
                    <a:pt x="2266198" y="4870036"/>
                  </a:lnTo>
                  <a:lnTo>
                    <a:pt x="1552765" y="4870036"/>
                  </a:lnTo>
                  <a:lnTo>
                    <a:pt x="1552765" y="3336876"/>
                  </a:lnTo>
                  <a:close/>
                  <a:moveTo>
                    <a:pt x="1552765" y="3246690"/>
                  </a:moveTo>
                  <a:lnTo>
                    <a:pt x="1552765" y="1713531"/>
                  </a:lnTo>
                  <a:lnTo>
                    <a:pt x="2266198" y="1713531"/>
                  </a:lnTo>
                  <a:lnTo>
                    <a:pt x="2266198" y="3246690"/>
                  </a:lnTo>
                  <a:lnTo>
                    <a:pt x="1552765" y="3246690"/>
                  </a:lnTo>
                  <a:close/>
                  <a:moveTo>
                    <a:pt x="1552765" y="1623345"/>
                  </a:moveTo>
                  <a:lnTo>
                    <a:pt x="1552765" y="90186"/>
                  </a:lnTo>
                  <a:lnTo>
                    <a:pt x="2266198" y="90186"/>
                  </a:lnTo>
                  <a:lnTo>
                    <a:pt x="2266198" y="1623345"/>
                  </a:lnTo>
                  <a:lnTo>
                    <a:pt x="1552765" y="1623345"/>
                  </a:lnTo>
                  <a:close/>
                  <a:moveTo>
                    <a:pt x="41967" y="6493381"/>
                  </a:moveTo>
                  <a:lnTo>
                    <a:pt x="41967" y="4960221"/>
                  </a:lnTo>
                  <a:lnTo>
                    <a:pt x="755399" y="4960221"/>
                  </a:lnTo>
                  <a:lnTo>
                    <a:pt x="755399" y="6493381"/>
                  </a:lnTo>
                  <a:lnTo>
                    <a:pt x="41967" y="6493381"/>
                  </a:lnTo>
                  <a:close/>
                  <a:moveTo>
                    <a:pt x="797366" y="6493381"/>
                  </a:moveTo>
                  <a:lnTo>
                    <a:pt x="797366" y="4960221"/>
                  </a:lnTo>
                  <a:lnTo>
                    <a:pt x="1510799" y="4960221"/>
                  </a:lnTo>
                  <a:lnTo>
                    <a:pt x="1510799" y="6493381"/>
                  </a:lnTo>
                  <a:lnTo>
                    <a:pt x="797366" y="6493381"/>
                  </a:lnTo>
                  <a:close/>
                  <a:moveTo>
                    <a:pt x="1552765" y="6493381"/>
                  </a:moveTo>
                  <a:lnTo>
                    <a:pt x="1552765" y="4960221"/>
                  </a:lnTo>
                  <a:lnTo>
                    <a:pt x="2266198" y="4960221"/>
                  </a:lnTo>
                  <a:lnTo>
                    <a:pt x="2266198" y="6493381"/>
                  </a:lnTo>
                  <a:lnTo>
                    <a:pt x="1552765" y="6493381"/>
                  </a:lnTo>
                  <a:close/>
                  <a:moveTo>
                    <a:pt x="3021597" y="6493381"/>
                  </a:moveTo>
                  <a:lnTo>
                    <a:pt x="2308165" y="6493381"/>
                  </a:lnTo>
                  <a:lnTo>
                    <a:pt x="2308165" y="4960221"/>
                  </a:lnTo>
                  <a:lnTo>
                    <a:pt x="3021597" y="4960221"/>
                  </a:lnTo>
                  <a:lnTo>
                    <a:pt x="3021597" y="6493381"/>
                  </a:lnTo>
                  <a:close/>
                  <a:moveTo>
                    <a:pt x="3021597" y="4870036"/>
                  </a:moveTo>
                  <a:lnTo>
                    <a:pt x="2308165" y="4870036"/>
                  </a:lnTo>
                  <a:lnTo>
                    <a:pt x="2308165" y="3336876"/>
                  </a:lnTo>
                  <a:lnTo>
                    <a:pt x="3021597" y="3336876"/>
                  </a:lnTo>
                  <a:lnTo>
                    <a:pt x="3021597" y="4870036"/>
                  </a:lnTo>
                  <a:close/>
                  <a:moveTo>
                    <a:pt x="3021597" y="3246690"/>
                  </a:moveTo>
                  <a:lnTo>
                    <a:pt x="2308165" y="3246690"/>
                  </a:lnTo>
                  <a:lnTo>
                    <a:pt x="2308165" y="1713531"/>
                  </a:lnTo>
                  <a:lnTo>
                    <a:pt x="3021597" y="1713531"/>
                  </a:lnTo>
                  <a:lnTo>
                    <a:pt x="3021597" y="3246690"/>
                  </a:lnTo>
                  <a:close/>
                  <a:moveTo>
                    <a:pt x="3021597" y="1623345"/>
                  </a:moveTo>
                  <a:lnTo>
                    <a:pt x="2308165" y="1623345"/>
                  </a:lnTo>
                  <a:lnTo>
                    <a:pt x="2308165" y="90186"/>
                  </a:lnTo>
                  <a:lnTo>
                    <a:pt x="3021597" y="90186"/>
                  </a:lnTo>
                  <a:lnTo>
                    <a:pt x="3021597" y="1623345"/>
                  </a:lnTo>
                  <a:close/>
                </a:path>
              </a:pathLst>
            </a:custGeom>
            <a:solidFill>
              <a:srgbClr val="DF9DA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9012" y="619012"/>
            <a:ext cx="14588269" cy="588865"/>
            <a:chOff x="0" y="0"/>
            <a:chExt cx="3842178" cy="155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2178" cy="155092"/>
            </a:xfrm>
            <a:custGeom>
              <a:avLst/>
              <a:gdLst/>
              <a:ahLst/>
              <a:cxnLst/>
              <a:rect r="r" b="b" t="t" l="l"/>
              <a:pathLst>
                <a:path h="155092" w="3842178">
                  <a:moveTo>
                    <a:pt x="0" y="0"/>
                  </a:moveTo>
                  <a:lnTo>
                    <a:pt x="3842178" y="0"/>
                  </a:lnTo>
                  <a:lnTo>
                    <a:pt x="3842178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842178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77276" y="619012"/>
            <a:ext cx="1591713" cy="588865"/>
            <a:chOff x="0" y="0"/>
            <a:chExt cx="419217" cy="155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217" cy="155092"/>
            </a:xfrm>
            <a:custGeom>
              <a:avLst/>
              <a:gdLst/>
              <a:ahLst/>
              <a:cxnLst/>
              <a:rect r="r" b="b" t="t" l="l"/>
              <a:pathLst>
                <a:path h="155092" w="419217">
                  <a:moveTo>
                    <a:pt x="0" y="0"/>
                  </a:moveTo>
                  <a:lnTo>
                    <a:pt x="419217" y="0"/>
                  </a:lnTo>
                  <a:lnTo>
                    <a:pt x="419217" y="155092"/>
                  </a:lnTo>
                  <a:lnTo>
                    <a:pt x="0" y="155092"/>
                  </a:lnTo>
                  <a:close/>
                </a:path>
              </a:pathLst>
            </a:custGeom>
            <a:solidFill>
              <a:srgbClr val="BC1823"/>
            </a:solidFill>
            <a:ln w="28575" cap="sq">
              <a:solidFill>
                <a:srgbClr val="BC182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9217" cy="1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5400000">
            <a:off x="16315673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16751451" y="899156"/>
            <a:ext cx="243362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20944">
            <a:off x="17222756" y="902346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2822682">
            <a:off x="17221815" y="902291"/>
            <a:ext cx="341846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6215506" y="780726"/>
            <a:ext cx="271459" cy="263200"/>
            <a:chOff x="0" y="0"/>
            <a:chExt cx="71495" cy="69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495" cy="69320"/>
            </a:xfrm>
            <a:custGeom>
              <a:avLst/>
              <a:gdLst/>
              <a:ahLst/>
              <a:cxnLst/>
              <a:rect r="r" b="b" t="t" l="l"/>
              <a:pathLst>
                <a:path h="69320" w="71495">
                  <a:moveTo>
                    <a:pt x="0" y="0"/>
                  </a:moveTo>
                  <a:lnTo>
                    <a:pt x="71495" y="0"/>
                  </a:lnTo>
                  <a:lnTo>
                    <a:pt x="71495" y="69320"/>
                  </a:lnTo>
                  <a:lnTo>
                    <a:pt x="0" y="69320"/>
                  </a:lnTo>
                  <a:close/>
                </a:path>
              </a:pathLst>
            </a:custGeom>
            <a:solidFill>
              <a:srgbClr val="BC1823"/>
            </a:solidFill>
            <a:ln w="19050" cap="sq">
              <a:solidFill>
                <a:srgbClr val="FFF5E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1495" cy="8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3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rot="5400000">
            <a:off x="16836054" y="899156"/>
            <a:ext cx="588865" cy="0"/>
          </a:xfrm>
          <a:prstGeom prst="line">
            <a:avLst/>
          </a:prstGeom>
          <a:ln cap="flat" w="28575">
            <a:solidFill>
              <a:srgbClr val="FFF5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6259148" y="2346874"/>
            <a:ext cx="1605083" cy="1596956"/>
            <a:chOff x="0" y="0"/>
            <a:chExt cx="422738" cy="4205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2738" cy="420598"/>
            </a:xfrm>
            <a:custGeom>
              <a:avLst/>
              <a:gdLst/>
              <a:ahLst/>
              <a:cxnLst/>
              <a:rect r="r" b="b" t="t" l="l"/>
              <a:pathLst>
                <a:path h="420598" w="422738">
                  <a:moveTo>
                    <a:pt x="0" y="0"/>
                  </a:moveTo>
                  <a:lnTo>
                    <a:pt x="422738" y="0"/>
                  </a:lnTo>
                  <a:lnTo>
                    <a:pt x="422738" y="420598"/>
                  </a:lnTo>
                  <a:lnTo>
                    <a:pt x="0" y="420598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22738" cy="43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59148" y="8117923"/>
            <a:ext cx="1605083" cy="1611560"/>
            <a:chOff x="0" y="0"/>
            <a:chExt cx="422738" cy="424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2738" cy="424444"/>
            </a:xfrm>
            <a:custGeom>
              <a:avLst/>
              <a:gdLst/>
              <a:ahLst/>
              <a:cxnLst/>
              <a:rect r="r" b="b" t="t" l="l"/>
              <a:pathLst>
                <a:path h="424444" w="422738">
                  <a:moveTo>
                    <a:pt x="0" y="0"/>
                  </a:moveTo>
                  <a:lnTo>
                    <a:pt x="422738" y="0"/>
                  </a:lnTo>
                  <a:lnTo>
                    <a:pt x="422738" y="424444"/>
                  </a:lnTo>
                  <a:lnTo>
                    <a:pt x="0" y="42444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22738" cy="443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0674" y="8117923"/>
            <a:ext cx="1605083" cy="1611560"/>
            <a:chOff x="0" y="0"/>
            <a:chExt cx="422738" cy="4244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2738" cy="424444"/>
            </a:xfrm>
            <a:custGeom>
              <a:avLst/>
              <a:gdLst/>
              <a:ahLst/>
              <a:cxnLst/>
              <a:rect r="r" b="b" t="t" l="l"/>
              <a:pathLst>
                <a:path h="424444" w="422738">
                  <a:moveTo>
                    <a:pt x="0" y="0"/>
                  </a:moveTo>
                  <a:lnTo>
                    <a:pt x="422738" y="0"/>
                  </a:lnTo>
                  <a:lnTo>
                    <a:pt x="422738" y="424444"/>
                  </a:lnTo>
                  <a:lnTo>
                    <a:pt x="0" y="424444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2738" cy="443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0674" y="2346874"/>
            <a:ext cx="1605083" cy="1596956"/>
            <a:chOff x="0" y="0"/>
            <a:chExt cx="422738" cy="4205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738" cy="420598"/>
            </a:xfrm>
            <a:custGeom>
              <a:avLst/>
              <a:gdLst/>
              <a:ahLst/>
              <a:cxnLst/>
              <a:rect r="r" b="b" t="t" l="l"/>
              <a:pathLst>
                <a:path h="420598" w="422738">
                  <a:moveTo>
                    <a:pt x="0" y="0"/>
                  </a:moveTo>
                  <a:lnTo>
                    <a:pt x="422738" y="0"/>
                  </a:lnTo>
                  <a:lnTo>
                    <a:pt x="422738" y="420598"/>
                  </a:lnTo>
                  <a:lnTo>
                    <a:pt x="0" y="420598"/>
                  </a:lnTo>
                  <a:close/>
                </a:path>
              </a:pathLst>
            </a:custGeom>
            <a:solidFill>
              <a:srgbClr val="FFF5EC"/>
            </a:solidFill>
            <a:ln w="28575" cap="sq">
              <a:solidFill>
                <a:srgbClr val="DF9DA2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2738" cy="439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6488065" y="2692711"/>
            <a:ext cx="1147248" cy="905283"/>
          </a:xfrm>
          <a:custGeom>
            <a:avLst/>
            <a:gdLst/>
            <a:ahLst/>
            <a:cxnLst/>
            <a:rect r="r" b="b" t="t" l="l"/>
            <a:pathLst>
              <a:path h="905283" w="1147248">
                <a:moveTo>
                  <a:pt x="0" y="0"/>
                </a:moveTo>
                <a:lnTo>
                  <a:pt x="1147248" y="0"/>
                </a:lnTo>
                <a:lnTo>
                  <a:pt x="1147248" y="905283"/>
                </a:lnTo>
                <a:lnTo>
                  <a:pt x="0" y="905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505519" y="8503036"/>
            <a:ext cx="1112341" cy="841334"/>
          </a:xfrm>
          <a:custGeom>
            <a:avLst/>
            <a:gdLst/>
            <a:ahLst/>
            <a:cxnLst/>
            <a:rect r="r" b="b" t="t" l="l"/>
            <a:pathLst>
              <a:path h="841334" w="1112341">
                <a:moveTo>
                  <a:pt x="0" y="0"/>
                </a:moveTo>
                <a:lnTo>
                  <a:pt x="1112341" y="0"/>
                </a:lnTo>
                <a:lnTo>
                  <a:pt x="1112341" y="841334"/>
                </a:lnTo>
                <a:lnTo>
                  <a:pt x="0" y="841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35092" y="8467382"/>
            <a:ext cx="1156246" cy="874542"/>
          </a:xfrm>
          <a:custGeom>
            <a:avLst/>
            <a:gdLst/>
            <a:ahLst/>
            <a:cxnLst/>
            <a:rect r="r" b="b" t="t" l="l"/>
            <a:pathLst>
              <a:path h="874542" w="1156246">
                <a:moveTo>
                  <a:pt x="0" y="0"/>
                </a:moveTo>
                <a:lnTo>
                  <a:pt x="1156246" y="0"/>
                </a:lnTo>
                <a:lnTo>
                  <a:pt x="1156246" y="874542"/>
                </a:lnTo>
                <a:lnTo>
                  <a:pt x="0" y="874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14010" y="2650646"/>
            <a:ext cx="989413" cy="989413"/>
          </a:xfrm>
          <a:custGeom>
            <a:avLst/>
            <a:gdLst/>
            <a:ahLst/>
            <a:cxnLst/>
            <a:rect r="r" b="b" t="t" l="l"/>
            <a:pathLst>
              <a:path h="989413" w="989413">
                <a:moveTo>
                  <a:pt x="0" y="0"/>
                </a:moveTo>
                <a:lnTo>
                  <a:pt x="989412" y="0"/>
                </a:lnTo>
                <a:lnTo>
                  <a:pt x="989412" y="989413"/>
                </a:lnTo>
                <a:lnTo>
                  <a:pt x="0" y="989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28700" y="4054317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MERCI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2115756" y="7929132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4"/>
                </a:lnTo>
                <a:lnTo>
                  <a:pt x="0" y="2521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885027">
            <a:off x="3926339" y="3073377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19" y="0"/>
                </a:lnTo>
                <a:lnTo>
                  <a:pt x="2206219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-1354446">
            <a:off x="13896313" y="3795726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4"/>
                </a:lnTo>
                <a:lnTo>
                  <a:pt x="0" y="23391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839221">
            <a:off x="12351528" y="7889339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0" y="0"/>
                </a:lnTo>
                <a:lnTo>
                  <a:pt x="1170380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814010" y="809301"/>
            <a:ext cx="13712227" cy="6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2499" spc="124">
                <a:solidFill>
                  <a:srgbClr val="FFF5EC"/>
                </a:solidFill>
                <a:latin typeface="Cabin"/>
                <a:ea typeface="Cabin"/>
                <a:cs typeface="Cabin"/>
                <a:sym typeface="Cabin"/>
              </a:rPr>
              <a:t>NTRODUCTION AUX SYSTÈMES D'INFORMATION - LICENCE 3 MIAGE - 2025/2026</a:t>
            </a:r>
          </a:p>
          <a:p>
            <a:pPr algn="l" marL="0" indent="0" lvl="0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DAG4eP9HlAU</dc:identifier>
  <dcterms:modified xsi:type="dcterms:W3CDTF">2011-08-01T06:04:30Z</dcterms:modified>
  <cp:revision>1</cp:revision>
  <dc:title>Presentation SI</dc:title>
</cp:coreProperties>
</file>